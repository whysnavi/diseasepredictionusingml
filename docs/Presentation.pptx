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9" r:id="rId4"/>
    <p:sldId id="260" r:id="rId5"/>
    <p:sldId id="258" r:id="rId6"/>
    <p:sldId id="261" r:id="rId7"/>
    <p:sldId id="275" r:id="rId8"/>
    <p:sldId id="262" r:id="rId9"/>
    <p:sldId id="271" r:id="rId10"/>
    <p:sldId id="273" r:id="rId11"/>
    <p:sldId id="263" r:id="rId12"/>
    <p:sldId id="264" r:id="rId13"/>
    <p:sldId id="265" r:id="rId14"/>
    <p:sldId id="266" r:id="rId15"/>
    <p:sldId id="267" r:id="rId16"/>
    <p:sldId id="270" r:id="rId17"/>
    <p:sldId id="26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082627-BFD8-4618-B8D5-D43B29425672}" v="16" dt="2025-05-02T10:28:08.4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37" autoAdjust="0"/>
    <p:restoredTop sz="94660"/>
  </p:normalViewPr>
  <p:slideViewPr>
    <p:cSldViewPr>
      <p:cViewPr varScale="1">
        <p:scale>
          <a:sx n="85" d="100"/>
          <a:sy n="85" d="100"/>
        </p:scale>
        <p:origin x="1560"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gishetty vaishnavi" userId="9b70ce878ff7e018" providerId="LiveId" clId="{7E082627-BFD8-4618-B8D5-D43B29425672}"/>
    <pc:docChg chg="undo custSel addSld delSld modSld">
      <pc:chgData name="logishetty vaishnavi" userId="9b70ce878ff7e018" providerId="LiveId" clId="{7E082627-BFD8-4618-B8D5-D43B29425672}" dt="2025-05-02T10:30:31.216" v="132" actId="14100"/>
      <pc:docMkLst>
        <pc:docMk/>
      </pc:docMkLst>
      <pc:sldChg chg="addSp delSp modSp add del mod">
        <pc:chgData name="logishetty vaishnavi" userId="9b70ce878ff7e018" providerId="LiveId" clId="{7E082627-BFD8-4618-B8D5-D43B29425672}" dt="2025-05-02T10:30:31.216" v="132" actId="14100"/>
        <pc:sldMkLst>
          <pc:docMk/>
          <pc:sldMk cId="2078880205" sldId="261"/>
        </pc:sldMkLst>
        <pc:spChg chg="mod">
          <ac:chgData name="logishetty vaishnavi" userId="9b70ce878ff7e018" providerId="LiveId" clId="{7E082627-BFD8-4618-B8D5-D43B29425672}" dt="2025-05-02T10:23:47.648" v="19" actId="14100"/>
          <ac:spMkLst>
            <pc:docMk/>
            <pc:sldMk cId="2078880205" sldId="261"/>
            <ac:spMk id="8" creationId="{00000000-0000-0000-0000-000000000000}"/>
          </ac:spMkLst>
        </pc:spChg>
        <pc:grpChg chg="add mod">
          <ac:chgData name="logishetty vaishnavi" userId="9b70ce878ff7e018" providerId="LiveId" clId="{7E082627-BFD8-4618-B8D5-D43B29425672}" dt="2025-05-02T10:27:14.857" v="109"/>
          <ac:grpSpMkLst>
            <pc:docMk/>
            <pc:sldMk cId="2078880205" sldId="261"/>
            <ac:grpSpMk id="3" creationId="{96025944-B2B6-358A-CA79-C092A6D6F518}"/>
          </ac:grpSpMkLst>
        </pc:grpChg>
        <pc:graphicFrameChg chg="mod modGraphic">
          <ac:chgData name="logishetty vaishnavi" userId="9b70ce878ff7e018" providerId="LiveId" clId="{7E082627-BFD8-4618-B8D5-D43B29425672}" dt="2025-05-02T10:30:31.216" v="132" actId="14100"/>
          <ac:graphicFrameMkLst>
            <pc:docMk/>
            <pc:sldMk cId="2078880205" sldId="261"/>
            <ac:graphicFrameMk id="9" creationId="{00000000-0000-0000-0000-000000000000}"/>
          </ac:graphicFrameMkLst>
        </pc:graphicFrameChg>
        <pc:picChg chg="mod">
          <ac:chgData name="logishetty vaishnavi" userId="9b70ce878ff7e018" providerId="LiveId" clId="{7E082627-BFD8-4618-B8D5-D43B29425672}" dt="2025-05-02T10:27:14.857" v="109"/>
          <ac:picMkLst>
            <pc:docMk/>
            <pc:sldMk cId="2078880205" sldId="261"/>
            <ac:picMk id="4" creationId="{C603B9B3-6556-5F21-A384-6B815E260D61}"/>
          </ac:picMkLst>
        </pc:picChg>
        <pc:picChg chg="mod">
          <ac:chgData name="logishetty vaishnavi" userId="9b70ce878ff7e018" providerId="LiveId" clId="{7E082627-BFD8-4618-B8D5-D43B29425672}" dt="2025-05-02T10:27:14.857" v="109"/>
          <ac:picMkLst>
            <pc:docMk/>
            <pc:sldMk cId="2078880205" sldId="261"/>
            <ac:picMk id="5" creationId="{E066E9FA-18C3-779B-1775-256D0E96DDE1}"/>
          </ac:picMkLst>
        </pc:picChg>
        <pc:picChg chg="add del mod">
          <ac:chgData name="logishetty vaishnavi" userId="9b70ce878ff7e018" providerId="LiveId" clId="{7E082627-BFD8-4618-B8D5-D43B29425672}" dt="2025-05-02T10:29:33.269" v="124" actId="1076"/>
          <ac:picMkLst>
            <pc:docMk/>
            <pc:sldMk cId="2078880205" sldId="261"/>
            <ac:picMk id="10" creationId="{00000000-0000-0000-0000-000000000000}"/>
          </ac:picMkLst>
        </pc:picChg>
      </pc:sldChg>
      <pc:sldChg chg="addSp delSp modSp add del mod">
        <pc:chgData name="logishetty vaishnavi" userId="9b70ce878ff7e018" providerId="LiveId" clId="{7E082627-BFD8-4618-B8D5-D43B29425672}" dt="2025-05-02T10:29:48.226" v="127" actId="1076"/>
        <pc:sldMkLst>
          <pc:docMk/>
          <pc:sldMk cId="2054045847" sldId="262"/>
        </pc:sldMkLst>
        <pc:spChg chg="del mod">
          <ac:chgData name="logishetty vaishnavi" userId="9b70ce878ff7e018" providerId="LiveId" clId="{7E082627-BFD8-4618-B8D5-D43B29425672}" dt="2025-05-02T10:28:44.316" v="119" actId="21"/>
          <ac:spMkLst>
            <pc:docMk/>
            <pc:sldMk cId="2054045847" sldId="262"/>
            <ac:spMk id="2" creationId="{00000000-0000-0000-0000-000000000000}"/>
          </ac:spMkLst>
        </pc:spChg>
        <pc:spChg chg="add mod">
          <ac:chgData name="logishetty vaishnavi" userId="9b70ce878ff7e018" providerId="LiveId" clId="{7E082627-BFD8-4618-B8D5-D43B29425672}" dt="2025-05-02T10:24:03.895" v="67"/>
          <ac:spMkLst>
            <pc:docMk/>
            <pc:sldMk cId="2054045847" sldId="262"/>
            <ac:spMk id="3" creationId="{6EA43D1E-85DF-77E7-5872-78916EB3F31A}"/>
          </ac:spMkLst>
        </pc:spChg>
        <pc:spChg chg="del mod">
          <ac:chgData name="logishetty vaishnavi" userId="9b70ce878ff7e018" providerId="LiveId" clId="{7E082627-BFD8-4618-B8D5-D43B29425672}" dt="2025-05-02T10:24:05.501" v="69"/>
          <ac:spMkLst>
            <pc:docMk/>
            <pc:sldMk cId="2054045847" sldId="262"/>
            <ac:spMk id="8" creationId="{00000000-0000-0000-0000-000000000000}"/>
          </ac:spMkLst>
        </pc:spChg>
        <pc:graphicFrameChg chg="mod modGraphic">
          <ac:chgData name="logishetty vaishnavi" userId="9b70ce878ff7e018" providerId="LiveId" clId="{7E082627-BFD8-4618-B8D5-D43B29425672}" dt="2025-05-02T10:28:49.209" v="121" actId="1076"/>
          <ac:graphicFrameMkLst>
            <pc:docMk/>
            <pc:sldMk cId="2054045847" sldId="262"/>
            <ac:graphicFrameMk id="11" creationId="{00000000-0000-0000-0000-000000000000}"/>
          </ac:graphicFrameMkLst>
        </pc:graphicFrameChg>
        <pc:picChg chg="add mod">
          <ac:chgData name="logishetty vaishnavi" userId="9b70ce878ff7e018" providerId="LiveId" clId="{7E082627-BFD8-4618-B8D5-D43B29425672}" dt="2025-05-02T10:29:48.226" v="127" actId="1076"/>
          <ac:picMkLst>
            <pc:docMk/>
            <pc:sldMk cId="2054045847" sldId="262"/>
            <ac:picMk id="4" creationId="{5B29B070-694F-3FA3-8980-390DCA5DDB9A}"/>
          </ac:picMkLst>
        </pc:picChg>
        <pc:picChg chg="del">
          <ac:chgData name="logishetty vaishnavi" userId="9b70ce878ff7e018" providerId="LiveId" clId="{7E082627-BFD8-4618-B8D5-D43B29425672}" dt="2025-05-02T10:22:54.928" v="16" actId="478"/>
          <ac:picMkLst>
            <pc:docMk/>
            <pc:sldMk cId="2054045847" sldId="262"/>
            <ac:picMk id="12" creationId="{00000000-0000-0000-0000-000000000000}"/>
          </ac:picMkLst>
        </pc:picChg>
      </pc:sldChg>
      <pc:sldChg chg="modSp mod">
        <pc:chgData name="logishetty vaishnavi" userId="9b70ce878ff7e018" providerId="LiveId" clId="{7E082627-BFD8-4618-B8D5-D43B29425672}" dt="2025-05-02T10:25:01.596" v="94" actId="14"/>
        <pc:sldMkLst>
          <pc:docMk/>
          <pc:sldMk cId="2569388391" sldId="263"/>
        </pc:sldMkLst>
        <pc:spChg chg="mod">
          <ac:chgData name="logishetty vaishnavi" userId="9b70ce878ff7e018" providerId="LiveId" clId="{7E082627-BFD8-4618-B8D5-D43B29425672}" dt="2025-05-02T10:25:01.596" v="94" actId="14"/>
          <ac:spMkLst>
            <pc:docMk/>
            <pc:sldMk cId="2569388391" sldId="263"/>
            <ac:spMk id="3" creationId="{00000000-0000-0000-0000-000000000000}"/>
          </ac:spMkLst>
        </pc:spChg>
      </pc:sldChg>
      <pc:sldChg chg="addSp delSp modSp add del mod">
        <pc:chgData name="logishetty vaishnavi" userId="9b70ce878ff7e018" providerId="LiveId" clId="{7E082627-BFD8-4618-B8D5-D43B29425672}" dt="2025-05-02T10:29:57.852" v="129" actId="1076"/>
        <pc:sldMkLst>
          <pc:docMk/>
          <pc:sldMk cId="3653255231" sldId="271"/>
        </pc:sldMkLst>
        <pc:spChg chg="add mod">
          <ac:chgData name="logishetty vaishnavi" userId="9b70ce878ff7e018" providerId="LiveId" clId="{7E082627-BFD8-4618-B8D5-D43B29425672}" dt="2025-05-02T10:24:09.905" v="70"/>
          <ac:spMkLst>
            <pc:docMk/>
            <pc:sldMk cId="3653255231" sldId="271"/>
            <ac:spMk id="2" creationId="{CC3A3960-0E96-69FF-48A1-95A087281E09}"/>
          </ac:spMkLst>
        </pc:spChg>
        <pc:spChg chg="add mod">
          <ac:chgData name="logishetty vaishnavi" userId="9b70ce878ff7e018" providerId="LiveId" clId="{7E082627-BFD8-4618-B8D5-D43B29425672}" dt="2025-05-02T10:24:13.145" v="72"/>
          <ac:spMkLst>
            <pc:docMk/>
            <pc:sldMk cId="3653255231" sldId="271"/>
            <ac:spMk id="3" creationId="{0B3BEB22-06B9-2DCB-1586-A237278D5C8A}"/>
          </ac:spMkLst>
        </pc:spChg>
        <pc:spChg chg="del mod">
          <ac:chgData name="logishetty vaishnavi" userId="9b70ce878ff7e018" providerId="LiveId" clId="{7E082627-BFD8-4618-B8D5-D43B29425672}" dt="2025-05-02T10:24:14.179" v="74"/>
          <ac:spMkLst>
            <pc:docMk/>
            <pc:sldMk cId="3653255231" sldId="271"/>
            <ac:spMk id="5" creationId="{00000000-0000-0000-0000-000000000000}"/>
          </ac:spMkLst>
        </pc:spChg>
        <pc:graphicFrameChg chg="modGraphic">
          <ac:chgData name="logishetty vaishnavi" userId="9b70ce878ff7e018" providerId="LiveId" clId="{7E082627-BFD8-4618-B8D5-D43B29425672}" dt="2025-05-02T10:29:10.084" v="123" actId="14100"/>
          <ac:graphicFrameMkLst>
            <pc:docMk/>
            <pc:sldMk cId="3653255231" sldId="271"/>
            <ac:graphicFrameMk id="10" creationId="{DB1F3CC5-72EE-70ED-3310-6D3047CD7DE0}"/>
          </ac:graphicFrameMkLst>
        </pc:graphicFrameChg>
        <pc:picChg chg="mod">
          <ac:chgData name="logishetty vaishnavi" userId="9b70ce878ff7e018" providerId="LiveId" clId="{7E082627-BFD8-4618-B8D5-D43B29425672}" dt="2025-05-02T10:29:57.852" v="129" actId="1076"/>
          <ac:picMkLst>
            <pc:docMk/>
            <pc:sldMk cId="3653255231" sldId="271"/>
            <ac:picMk id="13" creationId="{C221049D-6BE9-E363-4ACE-F54380EF2538}"/>
          </ac:picMkLst>
        </pc:picChg>
      </pc:sldChg>
      <pc:sldChg chg="new del">
        <pc:chgData name="logishetty vaishnavi" userId="9b70ce878ff7e018" providerId="LiveId" clId="{7E082627-BFD8-4618-B8D5-D43B29425672}" dt="2025-05-02T10:20:42.659" v="8" actId="47"/>
        <pc:sldMkLst>
          <pc:docMk/>
          <pc:sldMk cId="77252183" sldId="272"/>
        </pc:sldMkLst>
      </pc:sldChg>
      <pc:sldChg chg="new del">
        <pc:chgData name="logishetty vaishnavi" userId="9b70ce878ff7e018" providerId="LiveId" clId="{7E082627-BFD8-4618-B8D5-D43B29425672}" dt="2025-05-02T10:20:39.082" v="7" actId="47"/>
        <pc:sldMkLst>
          <pc:docMk/>
          <pc:sldMk cId="513803693" sldId="273"/>
        </pc:sldMkLst>
      </pc:sldChg>
      <pc:sldChg chg="addSp modSp add mod">
        <pc:chgData name="logishetty vaishnavi" userId="9b70ce878ff7e018" providerId="LiveId" clId="{7E082627-BFD8-4618-B8D5-D43B29425672}" dt="2025-05-02T10:30:05.752" v="130" actId="1076"/>
        <pc:sldMkLst>
          <pc:docMk/>
          <pc:sldMk cId="4072639284" sldId="273"/>
        </pc:sldMkLst>
        <pc:spChg chg="add mod">
          <ac:chgData name="logishetty vaishnavi" userId="9b70ce878ff7e018" providerId="LiveId" clId="{7E082627-BFD8-4618-B8D5-D43B29425672}" dt="2025-05-02T10:24:20.977" v="75"/>
          <ac:spMkLst>
            <pc:docMk/>
            <pc:sldMk cId="4072639284" sldId="273"/>
            <ac:spMk id="2" creationId="{92541275-3216-E1B4-912B-DBCB1D969D93}"/>
          </ac:spMkLst>
        </pc:spChg>
        <pc:graphicFrameChg chg="modGraphic">
          <ac:chgData name="logishetty vaishnavi" userId="9b70ce878ff7e018" providerId="LiveId" clId="{7E082627-BFD8-4618-B8D5-D43B29425672}" dt="2025-05-02T10:28:59.059" v="122" actId="14734"/>
          <ac:graphicFrameMkLst>
            <pc:docMk/>
            <pc:sldMk cId="4072639284" sldId="273"/>
            <ac:graphicFrameMk id="5" creationId="{7CB4E171-E8E5-A2C8-D697-B2C825ED9BDB}"/>
          </ac:graphicFrameMkLst>
        </pc:graphicFrameChg>
        <pc:picChg chg="mod">
          <ac:chgData name="logishetty vaishnavi" userId="9b70ce878ff7e018" providerId="LiveId" clId="{7E082627-BFD8-4618-B8D5-D43B29425672}" dt="2025-05-02T10:30:05.752" v="130" actId="1076"/>
          <ac:picMkLst>
            <pc:docMk/>
            <pc:sldMk cId="4072639284" sldId="273"/>
            <ac:picMk id="6" creationId="{35A1DB77-A85F-A433-DC16-A2BE3D19549E}"/>
          </ac:picMkLst>
        </pc:picChg>
      </pc:sldChg>
      <pc:sldChg chg="new del">
        <pc:chgData name="logishetty vaishnavi" userId="9b70ce878ff7e018" providerId="LiveId" clId="{7E082627-BFD8-4618-B8D5-D43B29425672}" dt="2025-05-02T10:21:05.160" v="10" actId="47"/>
        <pc:sldMkLst>
          <pc:docMk/>
          <pc:sldMk cId="3755148576" sldId="274"/>
        </pc:sldMkLst>
      </pc:sldChg>
      <pc:sldChg chg="addSp modSp add mod">
        <pc:chgData name="logishetty vaishnavi" userId="9b70ce878ff7e018" providerId="LiveId" clId="{7E082627-BFD8-4618-B8D5-D43B29425672}" dt="2025-05-02T10:29:38.188" v="125" actId="1076"/>
        <pc:sldMkLst>
          <pc:docMk/>
          <pc:sldMk cId="1821646209" sldId="275"/>
        </pc:sldMkLst>
        <pc:spChg chg="add mod">
          <ac:chgData name="logishetty vaishnavi" userId="9b70ce878ff7e018" providerId="LiveId" clId="{7E082627-BFD8-4618-B8D5-D43B29425672}" dt="2025-05-02T10:23:54.303" v="20"/>
          <ac:spMkLst>
            <pc:docMk/>
            <pc:sldMk cId="1821646209" sldId="275"/>
            <ac:spMk id="2" creationId="{1F686C40-B630-FBE8-B485-CD36D6CD9577}"/>
          </ac:spMkLst>
        </pc:spChg>
        <pc:graphicFrameChg chg="mod modGraphic">
          <ac:chgData name="logishetty vaishnavi" userId="9b70ce878ff7e018" providerId="LiveId" clId="{7E082627-BFD8-4618-B8D5-D43B29425672}" dt="2025-05-02T10:28:30.183" v="118" actId="14734"/>
          <ac:graphicFrameMkLst>
            <pc:docMk/>
            <pc:sldMk cId="1821646209" sldId="275"/>
            <ac:graphicFrameMk id="4" creationId="{EEE7093A-E8A4-DDC3-7CCA-72E3A0E1A885}"/>
          </ac:graphicFrameMkLst>
        </pc:graphicFrameChg>
        <pc:picChg chg="add mod">
          <ac:chgData name="logishetty vaishnavi" userId="9b70ce878ff7e018" providerId="LiveId" clId="{7E082627-BFD8-4618-B8D5-D43B29425672}" dt="2025-05-02T10:29:38.188" v="125" actId="1076"/>
          <ac:picMkLst>
            <pc:docMk/>
            <pc:sldMk cId="1821646209" sldId="275"/>
            <ac:picMk id="3" creationId="{1A5E8848-F12D-490C-3F65-5BE96FBAF27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F3ACB8-49F2-4A24-A855-2F2831AB061A}"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3ACB8-49F2-4A24-A855-2F2831AB061A}"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3ACB8-49F2-4A24-A855-2F2831AB061A}"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F3ACB8-49F2-4A24-A855-2F2831AB061A}"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9F3ACB8-49F2-4A24-A855-2F2831AB061A}"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9F3ACB8-49F2-4A24-A855-2F2831AB061A}"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F3ACB8-49F2-4A24-A855-2F2831AB061A}" type="datetimeFigureOut">
              <a:rPr lang="en-US" smtClean="0"/>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F3ACB8-49F2-4A24-A855-2F2831AB061A}"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0612E-83A7-4300-BD58-31F6B577A43D}"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9F3ACB8-49F2-4A24-A855-2F2831AB061A}" type="datetimeFigureOut">
              <a:rPr lang="en-US" smtClean="0"/>
              <a:t>5/2/2025</a:t>
            </a:fld>
            <a:endParaRPr lang="en-US"/>
          </a:p>
        </p:txBody>
      </p:sp>
      <p:sp>
        <p:nvSpPr>
          <p:cNvPr id="9" name="Slide Number Placeholder 8"/>
          <p:cNvSpPr>
            <a:spLocks noGrp="1"/>
          </p:cNvSpPr>
          <p:nvPr>
            <p:ph type="sldNum" sz="quarter" idx="11"/>
          </p:nvPr>
        </p:nvSpPr>
        <p:spPr/>
        <p:txBody>
          <a:bodyPr/>
          <a:lstStyle/>
          <a:p>
            <a:fld id="{D2C0612E-83A7-4300-BD58-31F6B577A43D}"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3ACB8-49F2-4A24-A855-2F2831AB061A}"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3ACB8-49F2-4A24-A855-2F2831AB061A}"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0612E-83A7-4300-BD58-31F6B577A43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D2C0612E-83A7-4300-BD58-31F6B577A43D}"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59F3ACB8-49F2-4A24-A855-2F2831AB061A}" type="datetimeFigureOut">
              <a:rPr lang="en-US" smtClean="0"/>
              <a:t>5/2/2025</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 y="1808584"/>
            <a:ext cx="6461760" cy="3982616"/>
          </a:xfrm>
        </p:spPr>
        <p:txBody>
          <a:bodyPr>
            <a:normAutofit fontScale="92500" lnSpcReduction="10000"/>
          </a:bodyPr>
          <a:lstStyle/>
          <a:p>
            <a:r>
              <a:rPr lang="en-US" sz="2400" b="1" spc="95" dirty="0">
                <a:solidFill>
                  <a:srgbClr val="1F2020"/>
                </a:solidFill>
                <a:latin typeface="Tahoma"/>
                <a:cs typeface="Tahoma"/>
              </a:rPr>
              <a:t>DISEASE</a:t>
            </a:r>
            <a:r>
              <a:rPr lang="en-US" sz="2400" b="1" spc="120" dirty="0">
                <a:solidFill>
                  <a:srgbClr val="1F2020"/>
                </a:solidFill>
                <a:latin typeface="Tahoma"/>
                <a:cs typeface="Tahoma"/>
              </a:rPr>
              <a:t> </a:t>
            </a:r>
            <a:r>
              <a:rPr lang="en-US" sz="2400" b="1" dirty="0">
                <a:solidFill>
                  <a:srgbClr val="1F2020"/>
                </a:solidFill>
                <a:latin typeface="Tahoma"/>
                <a:cs typeface="Tahoma"/>
              </a:rPr>
              <a:t>PREDICTION</a:t>
            </a:r>
            <a:r>
              <a:rPr lang="en-US" sz="2400" b="1" spc="120" dirty="0">
                <a:solidFill>
                  <a:srgbClr val="1F2020"/>
                </a:solidFill>
                <a:latin typeface="Tahoma"/>
                <a:cs typeface="Tahoma"/>
              </a:rPr>
              <a:t> </a:t>
            </a:r>
            <a:r>
              <a:rPr lang="en-US" sz="2400" b="1" spc="-10" dirty="0">
                <a:solidFill>
                  <a:srgbClr val="1F2020"/>
                </a:solidFill>
                <a:latin typeface="Tahoma"/>
                <a:cs typeface="Tahoma"/>
              </a:rPr>
              <a:t>USING </a:t>
            </a:r>
            <a:r>
              <a:rPr lang="en-US" sz="2400" b="1" spc="150" dirty="0">
                <a:solidFill>
                  <a:srgbClr val="1F2020"/>
                </a:solidFill>
                <a:latin typeface="Tahoma"/>
                <a:cs typeface="Tahoma"/>
              </a:rPr>
              <a:t>MACHINE</a:t>
            </a:r>
            <a:r>
              <a:rPr lang="en-US" sz="2400" b="1" spc="-35" dirty="0">
                <a:solidFill>
                  <a:srgbClr val="1F2020"/>
                </a:solidFill>
                <a:latin typeface="Tahoma"/>
                <a:cs typeface="Tahoma"/>
              </a:rPr>
              <a:t> </a:t>
            </a:r>
            <a:r>
              <a:rPr lang="en-US" sz="2400" b="1" spc="85" dirty="0">
                <a:solidFill>
                  <a:srgbClr val="1F2020"/>
                </a:solidFill>
                <a:latin typeface="Tahoma"/>
                <a:cs typeface="Tahoma"/>
              </a:rPr>
              <a:t>LEARNING</a:t>
            </a:r>
            <a:r>
              <a:rPr lang="en-US" sz="2400" b="1" spc="-35" dirty="0">
                <a:solidFill>
                  <a:srgbClr val="1F2020"/>
                </a:solidFill>
                <a:latin typeface="Tahoma"/>
                <a:cs typeface="Tahoma"/>
              </a:rPr>
              <a:t> </a:t>
            </a:r>
            <a:r>
              <a:rPr lang="en-US" sz="2400" b="1" spc="90" dirty="0">
                <a:solidFill>
                  <a:srgbClr val="1F2020"/>
                </a:solidFill>
                <a:latin typeface="Tahoma"/>
                <a:cs typeface="Tahoma"/>
              </a:rPr>
              <a:t>ALGORITHMS</a:t>
            </a:r>
            <a:endParaRPr lang="en-US" sz="2400" b="1" spc="90" dirty="0">
              <a:solidFill>
                <a:srgbClr val="FF0000"/>
              </a:solidFill>
              <a:latin typeface="Tahoma"/>
              <a:cs typeface="Tahoma"/>
            </a:endParaRPr>
          </a:p>
          <a:p>
            <a:endParaRPr lang="en-US" spc="105" dirty="0">
              <a:solidFill>
                <a:srgbClr val="1F2020"/>
              </a:solidFill>
              <a:latin typeface="Tahoma"/>
              <a:cs typeface="Tahoma"/>
            </a:endParaRPr>
          </a:p>
          <a:p>
            <a:r>
              <a:rPr lang="en-US" sz="2600" b="1" spc="25" dirty="0">
                <a:solidFill>
                  <a:srgbClr val="1F2020"/>
                </a:solidFill>
                <a:latin typeface="Times New Roman" pitchFamily="18" charset="0"/>
                <a:cs typeface="Times New Roman" pitchFamily="18" charset="0"/>
              </a:rPr>
              <a:t>BATCH:5</a:t>
            </a:r>
          </a:p>
          <a:p>
            <a:r>
              <a:rPr lang="en-US" sz="1900" b="1" spc="25" dirty="0">
                <a:solidFill>
                  <a:schemeClr val="tx1"/>
                </a:solidFill>
                <a:latin typeface="Times New Roman" pitchFamily="18" charset="0"/>
                <a:cs typeface="Times New Roman" pitchFamily="18" charset="0"/>
              </a:rPr>
              <a:t>MOHAMMED OMAIR AHMED </a:t>
            </a:r>
            <a:r>
              <a:rPr lang="en-US" sz="1900" spc="25" dirty="0">
                <a:solidFill>
                  <a:schemeClr val="tx1"/>
                </a:solidFill>
                <a:latin typeface="Times New Roman" pitchFamily="18" charset="0"/>
                <a:cs typeface="Times New Roman" pitchFamily="18" charset="0"/>
              </a:rPr>
              <a:t>-160722747090</a:t>
            </a:r>
          </a:p>
          <a:p>
            <a:r>
              <a:rPr lang="en-US" sz="1900" b="1" dirty="0">
                <a:solidFill>
                  <a:schemeClr val="tx1"/>
                </a:solidFill>
                <a:latin typeface="Times New Roman" pitchFamily="18" charset="0"/>
                <a:cs typeface="Times New Roman" pitchFamily="18" charset="0"/>
              </a:rPr>
              <a:t>MUSHAM PRAVEEN KUMAR </a:t>
            </a:r>
            <a:r>
              <a:rPr lang="en-US" sz="1900" dirty="0">
                <a:solidFill>
                  <a:schemeClr val="tx1"/>
                </a:solidFill>
                <a:latin typeface="Times New Roman" pitchFamily="18" charset="0"/>
                <a:cs typeface="Times New Roman" pitchFamily="18" charset="0"/>
              </a:rPr>
              <a:t>-160722747094</a:t>
            </a:r>
          </a:p>
          <a:p>
            <a:r>
              <a:rPr lang="en-US" sz="1900" b="1" dirty="0">
                <a:solidFill>
                  <a:schemeClr val="tx1"/>
                </a:solidFill>
                <a:latin typeface="Times New Roman" pitchFamily="18" charset="0"/>
                <a:cs typeface="Times New Roman" pitchFamily="18" charset="0"/>
              </a:rPr>
              <a:t>LOGISHETTY VAISHNAVI </a:t>
            </a:r>
            <a:r>
              <a:rPr lang="en-US" sz="1900" dirty="0">
                <a:solidFill>
                  <a:schemeClr val="tx1"/>
                </a:solidFill>
                <a:latin typeface="Times New Roman" pitchFamily="18" charset="0"/>
                <a:cs typeface="Times New Roman" pitchFamily="18" charset="0"/>
              </a:rPr>
              <a:t>-160722747116</a:t>
            </a:r>
          </a:p>
          <a:p>
            <a:endParaRPr lang="en-US" b="1" dirty="0">
              <a:solidFill>
                <a:schemeClr val="tx1"/>
              </a:solidFill>
              <a:latin typeface="Times New Roman" pitchFamily="18" charset="0"/>
              <a:cs typeface="Times New Roman" pitchFamily="18" charset="0"/>
            </a:endParaRPr>
          </a:p>
          <a:p>
            <a:r>
              <a:rPr lang="en-US" sz="2600" dirty="0">
                <a:solidFill>
                  <a:schemeClr val="tx1"/>
                </a:solidFill>
                <a:latin typeface="Times New Roman" pitchFamily="18" charset="0"/>
                <a:cs typeface="Times New Roman" pitchFamily="18" charset="0"/>
              </a:rPr>
              <a:t>Under The Guidance Of </a:t>
            </a:r>
            <a:r>
              <a:rPr lang="en-US" sz="1900" b="1" dirty="0">
                <a:solidFill>
                  <a:schemeClr val="tx1"/>
                </a:solidFill>
                <a:latin typeface="Times New Roman" pitchFamily="18" charset="0"/>
                <a:cs typeface="Times New Roman" pitchFamily="18" charset="0"/>
              </a:rPr>
              <a:t>:</a:t>
            </a:r>
          </a:p>
          <a:p>
            <a:r>
              <a:rPr lang="en-US" sz="1900" b="1" dirty="0">
                <a:solidFill>
                  <a:schemeClr val="tx1"/>
                </a:solidFill>
                <a:latin typeface="Times New Roman" pitchFamily="18" charset="0"/>
                <a:cs typeface="Times New Roman" pitchFamily="18" charset="0"/>
              </a:rPr>
              <a:t>MRS K.RADHIKA</a:t>
            </a:r>
          </a:p>
          <a:p>
            <a:r>
              <a:rPr lang="en-US" sz="1900" dirty="0">
                <a:solidFill>
                  <a:schemeClr val="tx1"/>
                </a:solidFill>
                <a:latin typeface="Times New Roman" pitchFamily="18" charset="0"/>
                <a:cs typeface="Times New Roman" pitchFamily="18" charset="0"/>
              </a:rPr>
              <a:t>Asst. Prof, Dept. of CSE</a:t>
            </a:r>
            <a:endParaRPr lang="en-US" sz="1900" b="1" baseline="-7936" dirty="0">
              <a:latin typeface="Times New Roman" pitchFamily="18" charset="0"/>
              <a:cs typeface="Times New Roman" pitchFamily="18" charset="0"/>
            </a:endParaRPr>
          </a:p>
          <a:p>
            <a:r>
              <a:rPr lang="en-US" sz="1800" dirty="0">
                <a:solidFill>
                  <a:schemeClr val="tx1"/>
                </a:solidFill>
                <a:latin typeface="Tahoma"/>
                <a:cs typeface="Tahoma"/>
              </a:rPr>
              <a:t>                                                   </a:t>
            </a:r>
          </a:p>
        </p:txBody>
      </p:sp>
      <p:grpSp>
        <p:nvGrpSpPr>
          <p:cNvPr id="4" name="object 4"/>
          <p:cNvGrpSpPr/>
          <p:nvPr/>
        </p:nvGrpSpPr>
        <p:grpSpPr>
          <a:xfrm>
            <a:off x="0" y="0"/>
            <a:ext cx="8458199" cy="1828800"/>
            <a:chOff x="3555732" y="0"/>
            <a:chExt cx="11172824" cy="3657603"/>
          </a:xfrm>
        </p:grpSpPr>
        <p:pic>
          <p:nvPicPr>
            <p:cNvPr id="5" name="object 5"/>
            <p:cNvPicPr/>
            <p:nvPr/>
          </p:nvPicPr>
          <p:blipFill>
            <a:blip r:embed="rId2" cstate="print"/>
            <a:stretch>
              <a:fillRect/>
            </a:stretch>
          </p:blipFill>
          <p:spPr>
            <a:xfrm>
              <a:off x="3555732" y="0"/>
              <a:ext cx="11172824" cy="2668666"/>
            </a:xfrm>
            <a:prstGeom prst="rect">
              <a:avLst/>
            </a:prstGeom>
          </p:spPr>
        </p:pic>
        <p:pic>
          <p:nvPicPr>
            <p:cNvPr id="6" name="object 6"/>
            <p:cNvPicPr/>
            <p:nvPr/>
          </p:nvPicPr>
          <p:blipFill>
            <a:blip r:embed="rId3" cstate="print"/>
            <a:stretch>
              <a:fillRect/>
            </a:stretch>
          </p:blipFill>
          <p:spPr>
            <a:xfrm>
              <a:off x="3555732" y="0"/>
              <a:ext cx="11172824" cy="3657603"/>
            </a:xfrm>
            <a:prstGeom prst="rect">
              <a:avLst/>
            </a:prstGeom>
          </p:spPr>
        </p:pic>
      </p:grpSp>
      <p:sp>
        <p:nvSpPr>
          <p:cNvPr id="2" name="Rectangle 1"/>
          <p:cNvSpPr/>
          <p:nvPr/>
        </p:nvSpPr>
        <p:spPr>
          <a:xfrm>
            <a:off x="3352800" y="6203202"/>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pic>
        <p:nvPicPr>
          <p:cNvPr id="8" name="Picture 2" descr="Image result for diseases care  using machines pics">
            <a:extLst>
              <a:ext uri="{FF2B5EF4-FFF2-40B4-BE49-F238E27FC236}">
                <a16:creationId xmlns:a16="http://schemas.microsoft.com/office/drawing/2014/main" id="{733ADBF9-7247-97F1-04F6-A4ED9C07FC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599" y="2796267"/>
            <a:ext cx="2514600" cy="34069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1" name="Rectangle 10"/>
          <p:cNvSpPr/>
          <p:nvPr/>
        </p:nvSpPr>
        <p:spPr>
          <a:xfrm>
            <a:off x="0" y="1806340"/>
            <a:ext cx="8458199" cy="9983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spc="95" dirty="0">
              <a:solidFill>
                <a:schemeClr val="bg1"/>
              </a:solidFill>
              <a:latin typeface="Tahoma"/>
              <a:cs typeface="Tahoma"/>
            </a:endParaRPr>
          </a:p>
          <a:p>
            <a:pPr algn="ctr"/>
            <a:r>
              <a:rPr lang="en-US" sz="2400" b="1" spc="95" dirty="0">
                <a:solidFill>
                  <a:schemeClr val="bg1"/>
                </a:solidFill>
                <a:latin typeface="Times New Roman" pitchFamily="18" charset="0"/>
                <a:cs typeface="Times New Roman" pitchFamily="18" charset="0"/>
              </a:rPr>
              <a:t>DISEASE</a:t>
            </a:r>
            <a:r>
              <a:rPr lang="en-US" sz="2400" b="1" spc="120"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PREDICTION</a:t>
            </a:r>
            <a:r>
              <a:rPr lang="en-US" sz="2400" b="1" spc="120" dirty="0">
                <a:solidFill>
                  <a:schemeClr val="bg1"/>
                </a:solidFill>
                <a:latin typeface="Times New Roman" pitchFamily="18" charset="0"/>
                <a:cs typeface="Times New Roman" pitchFamily="18" charset="0"/>
              </a:rPr>
              <a:t> </a:t>
            </a:r>
            <a:r>
              <a:rPr lang="en-US" sz="2400" b="1" spc="-10" dirty="0">
                <a:solidFill>
                  <a:schemeClr val="bg1"/>
                </a:solidFill>
                <a:latin typeface="Times New Roman" pitchFamily="18" charset="0"/>
                <a:cs typeface="Times New Roman" pitchFamily="18" charset="0"/>
              </a:rPr>
              <a:t>USING </a:t>
            </a:r>
          </a:p>
          <a:p>
            <a:pPr algn="ctr"/>
            <a:r>
              <a:rPr lang="en-US" sz="2400" b="1" spc="150" dirty="0">
                <a:solidFill>
                  <a:schemeClr val="bg1"/>
                </a:solidFill>
                <a:latin typeface="Times New Roman" pitchFamily="18" charset="0"/>
                <a:cs typeface="Times New Roman" pitchFamily="18" charset="0"/>
              </a:rPr>
              <a:t>MACHINE</a:t>
            </a:r>
            <a:r>
              <a:rPr lang="en-US" sz="2400" b="1" spc="-35" dirty="0">
                <a:solidFill>
                  <a:schemeClr val="bg1"/>
                </a:solidFill>
                <a:latin typeface="Times New Roman" pitchFamily="18" charset="0"/>
                <a:cs typeface="Times New Roman" pitchFamily="18" charset="0"/>
              </a:rPr>
              <a:t> </a:t>
            </a:r>
            <a:r>
              <a:rPr lang="en-US" sz="2400" b="1" spc="85" dirty="0">
                <a:solidFill>
                  <a:schemeClr val="bg1"/>
                </a:solidFill>
                <a:latin typeface="Times New Roman" pitchFamily="18" charset="0"/>
                <a:cs typeface="Times New Roman" pitchFamily="18" charset="0"/>
              </a:rPr>
              <a:t>LEARNING</a:t>
            </a:r>
            <a:r>
              <a:rPr lang="en-US" sz="2400" b="1" spc="-35" dirty="0">
                <a:solidFill>
                  <a:schemeClr val="bg1"/>
                </a:solidFill>
                <a:latin typeface="Times New Roman" pitchFamily="18" charset="0"/>
                <a:cs typeface="Times New Roman" pitchFamily="18" charset="0"/>
              </a:rPr>
              <a:t> </a:t>
            </a:r>
            <a:r>
              <a:rPr lang="en-US" sz="2400" b="1" spc="90" dirty="0">
                <a:solidFill>
                  <a:schemeClr val="bg1"/>
                </a:solidFill>
                <a:latin typeface="Times New Roman" pitchFamily="18" charset="0"/>
                <a:cs typeface="Times New Roman" pitchFamily="18" charset="0"/>
              </a:rPr>
              <a:t>ALGORITHMS</a:t>
            </a:r>
          </a:p>
          <a:p>
            <a:pPr algn="ctr"/>
            <a:endParaRPr lang="en-US" dirty="0"/>
          </a:p>
        </p:txBody>
      </p:sp>
    </p:spTree>
    <p:extLst>
      <p:ext uri="{BB962C8B-B14F-4D97-AF65-F5344CB8AC3E}">
        <p14:creationId xmlns:p14="http://schemas.microsoft.com/office/powerpoint/2010/main" val="2938939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spc="240" dirty="0">
                <a:latin typeface="Times New Roman" pitchFamily="18" charset="0"/>
                <a:cs typeface="Times New Roman" pitchFamily="18" charset="0"/>
              </a:rPr>
              <a:t>ABSTRACT</a:t>
            </a:r>
            <a:endParaRPr lang="en-US" sz="24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114300" indent="0" algn="just">
              <a:buNone/>
            </a:pPr>
            <a:r>
              <a:rPr lang="en-US" sz="1800" dirty="0">
                <a:solidFill>
                  <a:srgbClr val="1F2020"/>
                </a:solidFill>
                <a:latin typeface="Times New Roman" pitchFamily="18" charset="0"/>
                <a:cs typeface="Times New Roman" pitchFamily="18" charset="0"/>
              </a:rPr>
              <a:t>Disease</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prediction</a:t>
            </a:r>
            <a:r>
              <a:rPr lang="en-US" sz="1800" spc="-25" dirty="0">
                <a:solidFill>
                  <a:srgbClr val="1F2020"/>
                </a:solidFill>
                <a:latin typeface="Times New Roman" pitchFamily="18" charset="0"/>
                <a:cs typeface="Times New Roman" pitchFamily="18" charset="0"/>
              </a:rPr>
              <a:t> </a:t>
            </a:r>
            <a:r>
              <a:rPr lang="en-US" sz="1800" spc="-40" dirty="0">
                <a:solidFill>
                  <a:srgbClr val="1F2020"/>
                </a:solidFill>
                <a:latin typeface="Times New Roman" pitchFamily="18" charset="0"/>
                <a:cs typeface="Times New Roman" pitchFamily="18" charset="0"/>
              </a:rPr>
              <a:t>using</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machine</a:t>
            </a:r>
            <a:r>
              <a:rPr lang="en-US" sz="1800" spc="-25"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learning</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is</a:t>
            </a:r>
            <a:r>
              <a:rPr lang="en-US" sz="1800" spc="-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aimed</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at</a:t>
            </a:r>
            <a:r>
              <a:rPr lang="en-US" sz="1800" spc="-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creating</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a:t>
            </a:r>
            <a:r>
              <a:rPr lang="en-US" sz="1800" spc="-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system</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that</a:t>
            </a:r>
            <a:r>
              <a:rPr lang="en-US" sz="1800" spc="-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helps</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physicians</a:t>
            </a:r>
            <a:r>
              <a:rPr lang="en-US" sz="1800" spc="-25" dirty="0">
                <a:solidFill>
                  <a:srgbClr val="1F2020"/>
                </a:solidFill>
                <a:latin typeface="Times New Roman" pitchFamily="18" charset="0"/>
                <a:cs typeface="Times New Roman" pitchFamily="18" charset="0"/>
              </a:rPr>
              <a:t> to </a:t>
            </a:r>
            <a:r>
              <a:rPr lang="en-US" sz="1800" dirty="0">
                <a:solidFill>
                  <a:srgbClr val="1F2020"/>
                </a:solidFill>
                <a:latin typeface="Times New Roman" pitchFamily="18" charset="0"/>
                <a:cs typeface="Times New Roman" pitchFamily="18" charset="0"/>
              </a:rPr>
              <a:t>determine</a:t>
            </a:r>
            <a:r>
              <a:rPr lang="en-US" sz="1800" spc="5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6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illness</a:t>
            </a:r>
            <a:r>
              <a:rPr lang="en-US" sz="1800" spc="6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a:t>
            </a:r>
            <a:r>
              <a:rPr lang="en-US" sz="1800" spc="6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patient</a:t>
            </a:r>
            <a:r>
              <a:rPr lang="en-US" sz="1800" spc="6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suffers</a:t>
            </a:r>
            <a:r>
              <a:rPr lang="en-US" sz="1800" spc="6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from</a:t>
            </a:r>
            <a:r>
              <a:rPr lang="en-US" sz="1800" spc="6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more</a:t>
            </a:r>
            <a:r>
              <a:rPr lang="en-US" sz="1800" spc="6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accurately.</a:t>
            </a:r>
            <a:r>
              <a:rPr lang="en-US" sz="1800" spc="6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a:t>
            </a:r>
            <a:r>
              <a:rPr lang="en-US" sz="1800" spc="6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dataset</a:t>
            </a:r>
            <a:r>
              <a:rPr lang="en-US" sz="1800" spc="6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of</a:t>
            </a:r>
            <a:r>
              <a:rPr lang="en-US" sz="1800" spc="6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4,920</a:t>
            </a:r>
            <a:r>
              <a:rPr lang="en-US" sz="1800" spc="6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patient</a:t>
            </a:r>
            <a:r>
              <a:rPr lang="en-US" sz="1800" spc="65"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records </a:t>
            </a:r>
            <a:r>
              <a:rPr lang="en-US" sz="1800" dirty="0">
                <a:solidFill>
                  <a:srgbClr val="1F2020"/>
                </a:solidFill>
                <a:latin typeface="Times New Roman" pitchFamily="18" charset="0"/>
                <a:cs typeface="Times New Roman" pitchFamily="18" charset="0"/>
              </a:rPr>
              <a:t>each</a:t>
            </a:r>
            <a:r>
              <a:rPr lang="en-US" sz="1800" spc="-30"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diagnosed</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with</a:t>
            </a:r>
            <a:r>
              <a:rPr lang="en-US" sz="1800" spc="-30" dirty="0">
                <a:solidFill>
                  <a:srgbClr val="1F2020"/>
                </a:solidFill>
                <a:latin typeface="Times New Roman" pitchFamily="18" charset="0"/>
                <a:cs typeface="Times New Roman" pitchFamily="18" charset="0"/>
              </a:rPr>
              <a:t> </a:t>
            </a:r>
            <a:r>
              <a:rPr lang="en-US" sz="1800" spc="-180" dirty="0">
                <a:solidFill>
                  <a:srgbClr val="1F2020"/>
                </a:solidFill>
                <a:latin typeface="Times New Roman" pitchFamily="18" charset="0"/>
                <a:cs typeface="Times New Roman" pitchFamily="18" charset="0"/>
              </a:rPr>
              <a:t>41</a:t>
            </a:r>
            <a:r>
              <a:rPr lang="en-US" sz="1800" spc="-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different</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diseases</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was</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used</a:t>
            </a:r>
            <a:r>
              <a:rPr lang="en-US" sz="1800" spc="-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for</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study.</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Analyses</a:t>
            </a:r>
            <a:r>
              <a:rPr lang="en-US" sz="1800" spc="-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focused</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on</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95</a:t>
            </a:r>
            <a:r>
              <a:rPr lang="en-US" sz="1800" spc="-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of</a:t>
            </a:r>
            <a:r>
              <a:rPr lang="en-US" sz="1800" spc="-30" dirty="0">
                <a:solidFill>
                  <a:srgbClr val="1F2020"/>
                </a:solidFill>
                <a:latin typeface="Times New Roman" pitchFamily="18" charset="0"/>
                <a:cs typeface="Times New Roman" pitchFamily="18" charset="0"/>
              </a:rPr>
              <a:t> </a:t>
            </a:r>
            <a:r>
              <a:rPr lang="en-US" sz="1800" spc="-25" dirty="0">
                <a:solidFill>
                  <a:srgbClr val="1F2020"/>
                </a:solidFill>
                <a:latin typeface="Times New Roman" pitchFamily="18" charset="0"/>
                <a:cs typeface="Times New Roman" pitchFamily="18" charset="0"/>
              </a:rPr>
              <a:t>the </a:t>
            </a:r>
            <a:r>
              <a:rPr lang="en-US" sz="1800" spc="-50" dirty="0">
                <a:solidFill>
                  <a:srgbClr val="1F2020"/>
                </a:solidFill>
                <a:latin typeface="Times New Roman" pitchFamily="18" charset="0"/>
                <a:cs typeface="Times New Roman" pitchFamily="18" charset="0"/>
              </a:rPr>
              <a:t>132</a:t>
            </a:r>
            <a:r>
              <a:rPr lang="en-US" sz="1800" spc="3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symptoms</a:t>
            </a:r>
            <a:r>
              <a:rPr lang="en-US" sz="1800" spc="38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that</a:t>
            </a:r>
            <a:r>
              <a:rPr lang="en-US" sz="1800" spc="3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were</a:t>
            </a:r>
            <a:r>
              <a:rPr lang="en-US" sz="1800" spc="38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selected</a:t>
            </a:r>
            <a:r>
              <a:rPr lang="en-US" sz="1800" spc="3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as</a:t>
            </a:r>
            <a:r>
              <a:rPr lang="en-US" sz="1800" spc="3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key</a:t>
            </a:r>
            <a:r>
              <a:rPr lang="en-US" sz="1800" spc="38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symptoms</a:t>
            </a:r>
            <a:r>
              <a:rPr lang="en-US" sz="1800" spc="3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associated</a:t>
            </a:r>
            <a:r>
              <a:rPr lang="en-US" sz="1800" spc="38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with</a:t>
            </a:r>
            <a:r>
              <a:rPr lang="en-US" sz="1800" spc="3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different</a:t>
            </a:r>
            <a:r>
              <a:rPr lang="en-US" sz="1800" spc="3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diseases</a:t>
            </a:r>
            <a:r>
              <a:rPr lang="en-US" sz="1800" spc="38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over</a:t>
            </a:r>
            <a:r>
              <a:rPr lang="en-US" sz="1800" spc="380" dirty="0">
                <a:solidFill>
                  <a:srgbClr val="1F2020"/>
                </a:solidFill>
                <a:latin typeface="Times New Roman" pitchFamily="18" charset="0"/>
                <a:cs typeface="Times New Roman" pitchFamily="18" charset="0"/>
              </a:rPr>
              <a:t> </a:t>
            </a:r>
            <a:r>
              <a:rPr lang="en-US" sz="1800" spc="-50" dirty="0">
                <a:solidFill>
                  <a:srgbClr val="1F2020"/>
                </a:solidFill>
                <a:latin typeface="Times New Roman" pitchFamily="18" charset="0"/>
                <a:cs typeface="Times New Roman" pitchFamily="18" charset="0"/>
              </a:rPr>
              <a:t>a </a:t>
            </a:r>
            <a:r>
              <a:rPr lang="en-US" sz="1800" dirty="0">
                <a:solidFill>
                  <a:srgbClr val="1F2020"/>
                </a:solidFill>
                <a:latin typeface="Times New Roman" pitchFamily="18" charset="0"/>
                <a:cs typeface="Times New Roman" pitchFamily="18" charset="0"/>
              </a:rPr>
              <a:t>variety</a:t>
            </a:r>
            <a:r>
              <a:rPr lang="en-US" sz="1800" spc="21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of</a:t>
            </a:r>
            <a:r>
              <a:rPr lang="en-US" sz="1800" spc="2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complex</a:t>
            </a:r>
            <a:r>
              <a:rPr lang="en-US" sz="1800" spc="21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diseases.</a:t>
            </a:r>
            <a:r>
              <a:rPr lang="en-US" sz="1800" spc="21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2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development</a:t>
            </a:r>
            <a:r>
              <a:rPr lang="en-US" sz="1800" spc="21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of</a:t>
            </a:r>
            <a:r>
              <a:rPr lang="en-US" sz="1800" spc="2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21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system</a:t>
            </a:r>
            <a:r>
              <a:rPr lang="en-US" sz="1800" spc="21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was</a:t>
            </a:r>
            <a:r>
              <a:rPr lang="en-US" sz="1800" spc="2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done</a:t>
            </a:r>
            <a:r>
              <a:rPr lang="en-US" sz="1800" spc="21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using</a:t>
            </a:r>
            <a:r>
              <a:rPr lang="en-US" sz="1800" spc="21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machine</a:t>
            </a:r>
            <a:r>
              <a:rPr lang="en-US" sz="1800" spc="21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learning </a:t>
            </a:r>
            <a:r>
              <a:rPr lang="en-US" sz="1800" spc="-45" dirty="0">
                <a:solidFill>
                  <a:srgbClr val="1F2020"/>
                </a:solidFill>
                <a:latin typeface="Times New Roman" pitchFamily="18" charset="0"/>
                <a:cs typeface="Times New Roman" pitchFamily="18" charset="0"/>
              </a:rPr>
              <a:t>algorithms</a:t>
            </a:r>
            <a:r>
              <a:rPr lang="en-US" sz="1800" spc="-15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which</a:t>
            </a:r>
            <a:r>
              <a:rPr lang="en-US" sz="1800" spc="-15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are</a:t>
            </a:r>
            <a:r>
              <a:rPr lang="en-US" sz="1800" spc="-15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capable</a:t>
            </a:r>
            <a:r>
              <a:rPr lang="en-US" sz="1800" spc="-15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of</a:t>
            </a:r>
            <a:r>
              <a:rPr lang="en-US" sz="1800" spc="-155" dirty="0">
                <a:solidFill>
                  <a:srgbClr val="1F2020"/>
                </a:solidFill>
                <a:latin typeface="Times New Roman" pitchFamily="18" charset="0"/>
                <a:cs typeface="Times New Roman" pitchFamily="18" charset="0"/>
              </a:rPr>
              <a:t> </a:t>
            </a:r>
            <a:r>
              <a:rPr lang="en-US" sz="1800" spc="-75" dirty="0">
                <a:solidFill>
                  <a:srgbClr val="1F2020"/>
                </a:solidFill>
                <a:latin typeface="Times New Roman" pitchFamily="18" charset="0"/>
                <a:cs typeface="Times New Roman" pitchFamily="18" charset="0"/>
              </a:rPr>
              <a:t>diagnosing</a:t>
            </a:r>
            <a:r>
              <a:rPr lang="en-US" sz="1800" spc="-150" dirty="0">
                <a:solidFill>
                  <a:srgbClr val="1F2020"/>
                </a:solidFill>
                <a:latin typeface="Times New Roman" pitchFamily="18" charset="0"/>
                <a:cs typeface="Times New Roman" pitchFamily="18" charset="0"/>
              </a:rPr>
              <a:t> </a:t>
            </a:r>
            <a:r>
              <a:rPr lang="en-US" sz="1800" spc="-25" dirty="0">
                <a:solidFill>
                  <a:srgbClr val="1F2020"/>
                </a:solidFill>
                <a:latin typeface="Times New Roman" pitchFamily="18" charset="0"/>
                <a:cs typeface="Times New Roman" pitchFamily="18" charset="0"/>
              </a:rPr>
              <a:t>diseases</a:t>
            </a:r>
            <a:r>
              <a:rPr lang="en-US" sz="1800" spc="-150" dirty="0">
                <a:solidFill>
                  <a:srgbClr val="1F2020"/>
                </a:solidFill>
                <a:latin typeface="Times New Roman" pitchFamily="18" charset="0"/>
                <a:cs typeface="Times New Roman" pitchFamily="18" charset="0"/>
              </a:rPr>
              <a:t> </a:t>
            </a:r>
            <a:r>
              <a:rPr lang="en-US" sz="1800" spc="65" dirty="0">
                <a:solidFill>
                  <a:srgbClr val="1F2020"/>
                </a:solidFill>
                <a:latin typeface="Times New Roman" pitchFamily="18" charset="0"/>
                <a:cs typeface="Times New Roman" pitchFamily="18" charset="0"/>
              </a:rPr>
              <a:t>by</a:t>
            </a:r>
            <a:r>
              <a:rPr lang="en-US" sz="1800" spc="-150" dirty="0">
                <a:solidFill>
                  <a:srgbClr val="1F2020"/>
                </a:solidFill>
                <a:latin typeface="Times New Roman" pitchFamily="18" charset="0"/>
                <a:cs typeface="Times New Roman" pitchFamily="18" charset="0"/>
              </a:rPr>
              <a:t> </a:t>
            </a:r>
            <a:r>
              <a:rPr lang="en-US" sz="1800" spc="-80" dirty="0">
                <a:solidFill>
                  <a:srgbClr val="1F2020"/>
                </a:solidFill>
                <a:latin typeface="Times New Roman" pitchFamily="18" charset="0"/>
                <a:cs typeface="Times New Roman" pitchFamily="18" charset="0"/>
              </a:rPr>
              <a:t>recognizing</a:t>
            </a:r>
            <a:r>
              <a:rPr lang="en-US" sz="1800" spc="-15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patterns</a:t>
            </a:r>
            <a:r>
              <a:rPr lang="en-US" sz="1800" spc="-155" dirty="0">
                <a:solidFill>
                  <a:srgbClr val="1F2020"/>
                </a:solidFill>
                <a:latin typeface="Times New Roman" pitchFamily="18" charset="0"/>
                <a:cs typeface="Times New Roman" pitchFamily="18" charset="0"/>
              </a:rPr>
              <a:t> </a:t>
            </a:r>
            <a:r>
              <a:rPr lang="en-US" sz="1800" spc="-50" dirty="0">
                <a:solidFill>
                  <a:srgbClr val="1F2020"/>
                </a:solidFill>
                <a:latin typeface="Times New Roman" pitchFamily="18" charset="0"/>
                <a:cs typeface="Times New Roman" pitchFamily="18" charset="0"/>
              </a:rPr>
              <a:t>in</a:t>
            </a:r>
            <a:r>
              <a:rPr lang="en-US" sz="1800" spc="-15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150"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data.</a:t>
            </a:r>
            <a:endParaRPr lang="en-US" sz="1800" dirty="0">
              <a:latin typeface="Times New Roman" pitchFamily="18" charset="0"/>
              <a:cs typeface="Times New Roman" pitchFamily="18" charset="0"/>
            </a:endParaRPr>
          </a:p>
          <a:p>
            <a:pPr algn="just"/>
            <a:endParaRPr lang="en-US" sz="1800" dirty="0">
              <a:latin typeface="Times New Roman" pitchFamily="18" charset="0"/>
              <a:cs typeface="Times New Roman" pitchFamily="18" charset="0"/>
            </a:endParaRPr>
          </a:p>
        </p:txBody>
      </p:sp>
      <p:pic>
        <p:nvPicPr>
          <p:cNvPr id="4" name="object 5"/>
          <p:cNvPicPr/>
          <p:nvPr/>
        </p:nvPicPr>
        <p:blipFill>
          <a:blip r:embed="rId2" cstate="print"/>
          <a:stretch>
            <a:fillRect/>
          </a:stretch>
        </p:blipFill>
        <p:spPr>
          <a:xfrm>
            <a:off x="6781800" y="-228600"/>
            <a:ext cx="1866899" cy="1866899"/>
          </a:xfrm>
          <a:prstGeom prst="rect">
            <a:avLst/>
          </a:prstGeom>
        </p:spPr>
      </p:pic>
      <p:sp>
        <p:nvSpPr>
          <p:cNvPr id="9" name="Rectangle 8"/>
          <p:cNvSpPr/>
          <p:nvPr/>
        </p:nvSpPr>
        <p:spPr>
          <a:xfrm>
            <a:off x="3352800" y="6208805"/>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66817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spc="50" dirty="0">
                <a:latin typeface="Times New Roman" pitchFamily="18" charset="0"/>
                <a:cs typeface="Times New Roman" pitchFamily="18" charset="0"/>
              </a:rPr>
              <a:t>INTRODUCTION</a:t>
            </a:r>
            <a:endParaRPr lang="en-US" sz="2400"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1595735"/>
            <a:ext cx="7620000" cy="4800600"/>
          </a:xfrm>
        </p:spPr>
        <p:txBody>
          <a:bodyPr>
            <a:normAutofit/>
          </a:bodyPr>
          <a:lstStyle/>
          <a:p>
            <a:pPr marL="539115" marR="5080" algn="just">
              <a:lnSpc>
                <a:spcPct val="114799"/>
              </a:lnSpc>
              <a:spcBef>
                <a:spcPts val="100"/>
              </a:spcBef>
            </a:pPr>
            <a:r>
              <a:rPr lang="en-US" sz="1800" dirty="0">
                <a:solidFill>
                  <a:srgbClr val="1F2020"/>
                </a:solidFill>
                <a:latin typeface="Times New Roman" pitchFamily="18" charset="0"/>
                <a:cs typeface="Times New Roman" pitchFamily="18" charset="0"/>
              </a:rPr>
              <a:t>Many</a:t>
            </a:r>
            <a:r>
              <a:rPr lang="en-US" sz="1800" spc="195" dirty="0">
                <a:solidFill>
                  <a:srgbClr val="1F2020"/>
                </a:solidFill>
                <a:latin typeface="Times New Roman" pitchFamily="18" charset="0"/>
                <a:cs typeface="Times New Roman" pitchFamily="18" charset="0"/>
              </a:rPr>
              <a:t> </a:t>
            </a:r>
            <a:r>
              <a:rPr lang="en-US" sz="1800" spc="-110" dirty="0">
                <a:solidFill>
                  <a:srgbClr val="1F2020"/>
                </a:solidFill>
                <a:latin typeface="Times New Roman" pitchFamily="18" charset="0"/>
                <a:cs typeface="Times New Roman" pitchFamily="18" charset="0"/>
              </a:rPr>
              <a:t>life-</a:t>
            </a:r>
            <a:r>
              <a:rPr lang="en-US" sz="1800" dirty="0">
                <a:solidFill>
                  <a:srgbClr val="1F2020"/>
                </a:solidFill>
                <a:latin typeface="Times New Roman" pitchFamily="18" charset="0"/>
                <a:cs typeface="Times New Roman" pitchFamily="18" charset="0"/>
              </a:rPr>
              <a:t>threatening</a:t>
            </a:r>
            <a:r>
              <a:rPr lang="en-US" sz="1800" spc="1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diseases</a:t>
            </a:r>
            <a:r>
              <a:rPr lang="en-US" sz="1800" spc="1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like</a:t>
            </a:r>
            <a:r>
              <a:rPr lang="en-US" sz="1800" spc="1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diabetes,</a:t>
            </a:r>
            <a:r>
              <a:rPr lang="en-US" sz="1800" spc="1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malaria,</a:t>
            </a:r>
            <a:r>
              <a:rPr lang="en-US" sz="1800" spc="1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jaundice,</a:t>
            </a:r>
            <a:r>
              <a:rPr lang="en-US" sz="1800" spc="1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1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dengue</a:t>
            </a:r>
            <a:r>
              <a:rPr lang="en-US" sz="1800" spc="1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begin</a:t>
            </a:r>
            <a:r>
              <a:rPr lang="en-US" sz="1800" spc="1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with</a:t>
            </a:r>
            <a:r>
              <a:rPr lang="en-US" sz="1800" spc="1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common</a:t>
            </a:r>
            <a:r>
              <a:rPr lang="en-US" sz="1800" spc="19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symptoms </a:t>
            </a:r>
            <a:r>
              <a:rPr lang="en-US" sz="1800" dirty="0">
                <a:solidFill>
                  <a:srgbClr val="1F2020"/>
                </a:solidFill>
                <a:latin typeface="Times New Roman" pitchFamily="18" charset="0"/>
                <a:cs typeface="Times New Roman" pitchFamily="18" charset="0"/>
              </a:rPr>
              <a:t>such</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as</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fever,</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headache,</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95" dirty="0">
                <a:solidFill>
                  <a:srgbClr val="1F2020"/>
                </a:solidFill>
                <a:latin typeface="Times New Roman" pitchFamily="18" charset="0"/>
                <a:cs typeface="Times New Roman" pitchFamily="18" charset="0"/>
              </a:rPr>
              <a:t> </a:t>
            </a:r>
            <a:r>
              <a:rPr lang="en-US" sz="1800" spc="-40" dirty="0">
                <a:solidFill>
                  <a:srgbClr val="1F2020"/>
                </a:solidFill>
                <a:latin typeface="Times New Roman" pitchFamily="18" charset="0"/>
                <a:cs typeface="Times New Roman" pitchFamily="18" charset="0"/>
              </a:rPr>
              <a:t>fatigue.</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People</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often</a:t>
            </a:r>
            <a:r>
              <a:rPr lang="en-US" sz="1800" spc="-95" dirty="0">
                <a:solidFill>
                  <a:srgbClr val="1F2020"/>
                </a:solidFill>
                <a:latin typeface="Times New Roman" pitchFamily="18" charset="0"/>
                <a:cs typeface="Times New Roman" pitchFamily="18" charset="0"/>
              </a:rPr>
              <a:t> </a:t>
            </a:r>
            <a:r>
              <a:rPr lang="en-US" sz="1800" spc="-105" dirty="0">
                <a:solidFill>
                  <a:srgbClr val="1F2020"/>
                </a:solidFill>
                <a:latin typeface="Times New Roman" pitchFamily="18" charset="0"/>
                <a:cs typeface="Times New Roman" pitchFamily="18" charset="0"/>
              </a:rPr>
              <a:t>self-</a:t>
            </a:r>
            <a:r>
              <a:rPr lang="en-US" sz="1800" spc="-35" dirty="0">
                <a:solidFill>
                  <a:srgbClr val="1F2020"/>
                </a:solidFill>
                <a:latin typeface="Times New Roman" pitchFamily="18" charset="0"/>
                <a:cs typeface="Times New Roman" pitchFamily="18" charset="0"/>
              </a:rPr>
              <a:t>diagnose</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or</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delay</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medical</a:t>
            </a:r>
            <a:r>
              <a:rPr lang="en-US" sz="1800" spc="-95"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consultation,</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which</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can</a:t>
            </a:r>
            <a:r>
              <a:rPr lang="en-US" sz="1800" spc="-95"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lead </a:t>
            </a:r>
            <a:r>
              <a:rPr lang="en-US" sz="1800" dirty="0">
                <a:solidFill>
                  <a:srgbClr val="1F2020"/>
                </a:solidFill>
                <a:latin typeface="Times New Roman" pitchFamily="18" charset="0"/>
                <a:cs typeface="Times New Roman" pitchFamily="18" charset="0"/>
              </a:rPr>
              <a:t>to</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late</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detection</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poor</a:t>
            </a:r>
            <a:r>
              <a:rPr lang="en-US" sz="1800" spc="-95"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outcomes.</a:t>
            </a:r>
            <a:endParaRPr lang="en-US" sz="1800" dirty="0">
              <a:latin typeface="Times New Roman" pitchFamily="18" charset="0"/>
              <a:cs typeface="Times New Roman" pitchFamily="18" charset="0"/>
            </a:endParaRPr>
          </a:p>
          <a:p>
            <a:pPr marL="539115" marR="5080" algn="just">
              <a:lnSpc>
                <a:spcPct val="114799"/>
              </a:lnSpc>
              <a:spcBef>
                <a:spcPts val="100"/>
              </a:spcBef>
            </a:pPr>
            <a:r>
              <a:rPr lang="en-US" sz="1800" spc="-75" dirty="0">
                <a:solidFill>
                  <a:srgbClr val="1F2020"/>
                </a:solidFill>
                <a:latin typeface="Times New Roman" pitchFamily="18" charset="0"/>
                <a:cs typeface="Times New Roman" pitchFamily="18" charset="0"/>
              </a:rPr>
              <a:t>This </a:t>
            </a:r>
            <a:r>
              <a:rPr lang="en-US" sz="1800" dirty="0">
                <a:solidFill>
                  <a:srgbClr val="1F2020"/>
                </a:solidFill>
                <a:latin typeface="Times New Roman" pitchFamily="18" charset="0"/>
                <a:cs typeface="Times New Roman" pitchFamily="18" charset="0"/>
              </a:rPr>
              <a:t>project</a:t>
            </a:r>
            <a:r>
              <a:rPr lang="en-US" sz="1800" spc="-70" dirty="0">
                <a:solidFill>
                  <a:srgbClr val="1F2020"/>
                </a:solidFill>
                <a:latin typeface="Times New Roman" pitchFamily="18" charset="0"/>
                <a:cs typeface="Times New Roman" pitchFamily="18" charset="0"/>
              </a:rPr>
              <a:t> </a:t>
            </a:r>
            <a:r>
              <a:rPr lang="en-US" sz="1800" spc="-60" dirty="0">
                <a:solidFill>
                  <a:srgbClr val="1F2020"/>
                </a:solidFill>
                <a:latin typeface="Times New Roman" pitchFamily="18" charset="0"/>
                <a:cs typeface="Times New Roman" pitchFamily="18" charset="0"/>
              </a:rPr>
              <a:t>suggests</a:t>
            </a:r>
            <a:r>
              <a:rPr lang="en-US" sz="1800" spc="-7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a:t>
            </a:r>
            <a:r>
              <a:rPr lang="en-US" sz="1800" spc="-7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Machine</a:t>
            </a:r>
            <a:r>
              <a:rPr lang="en-US" sz="1800" spc="-75" dirty="0">
                <a:solidFill>
                  <a:srgbClr val="1F2020"/>
                </a:solidFill>
                <a:latin typeface="Times New Roman" pitchFamily="18" charset="0"/>
                <a:cs typeface="Times New Roman" pitchFamily="18" charset="0"/>
              </a:rPr>
              <a:t> </a:t>
            </a:r>
            <a:r>
              <a:rPr lang="en-US" sz="1800" spc="-85" dirty="0">
                <a:solidFill>
                  <a:srgbClr val="1F2020"/>
                </a:solidFill>
                <a:latin typeface="Times New Roman" pitchFamily="18" charset="0"/>
                <a:cs typeface="Times New Roman" pitchFamily="18" charset="0"/>
              </a:rPr>
              <a:t>Learning-</a:t>
            </a:r>
            <a:r>
              <a:rPr lang="en-US" sz="1800" dirty="0">
                <a:solidFill>
                  <a:srgbClr val="1F2020"/>
                </a:solidFill>
                <a:latin typeface="Times New Roman" pitchFamily="18" charset="0"/>
                <a:cs typeface="Times New Roman" pitchFamily="18" charset="0"/>
              </a:rPr>
              <a:t>based</a:t>
            </a:r>
            <a:r>
              <a:rPr lang="en-US" sz="1800" spc="-70"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Disease</a:t>
            </a:r>
            <a:r>
              <a:rPr lang="en-US" sz="1800" spc="-7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Prediction</a:t>
            </a:r>
            <a:r>
              <a:rPr lang="en-US" sz="1800" spc="-7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System</a:t>
            </a:r>
            <a:r>
              <a:rPr lang="en-US" sz="1800" spc="-70" dirty="0">
                <a:solidFill>
                  <a:srgbClr val="1F2020"/>
                </a:solidFill>
                <a:latin typeface="Times New Roman" pitchFamily="18" charset="0"/>
                <a:cs typeface="Times New Roman" pitchFamily="18" charset="0"/>
              </a:rPr>
              <a:t> </a:t>
            </a:r>
            <a:r>
              <a:rPr lang="en-US" sz="1800" spc="-85" dirty="0">
                <a:solidFill>
                  <a:srgbClr val="1F2020"/>
                </a:solidFill>
                <a:latin typeface="Times New Roman" pitchFamily="18" charset="0"/>
                <a:cs typeface="Times New Roman" pitchFamily="18" charset="0"/>
              </a:rPr>
              <a:t>using</a:t>
            </a:r>
            <a:r>
              <a:rPr lang="en-US" sz="1800" spc="-75" dirty="0">
                <a:solidFill>
                  <a:srgbClr val="1F2020"/>
                </a:solidFill>
                <a:latin typeface="Times New Roman" pitchFamily="18" charset="0"/>
                <a:cs typeface="Times New Roman" pitchFamily="18" charset="0"/>
              </a:rPr>
              <a:t> </a:t>
            </a:r>
            <a:r>
              <a:rPr lang="en-US" sz="1800" spc="-35" dirty="0">
                <a:solidFill>
                  <a:srgbClr val="1F2020"/>
                </a:solidFill>
                <a:latin typeface="Times New Roman" pitchFamily="18" charset="0"/>
                <a:cs typeface="Times New Roman" pitchFamily="18" charset="0"/>
              </a:rPr>
              <a:t>algorithms</a:t>
            </a:r>
            <a:r>
              <a:rPr lang="en-US" sz="1800" spc="-70" dirty="0">
                <a:solidFill>
                  <a:srgbClr val="1F2020"/>
                </a:solidFill>
                <a:latin typeface="Times New Roman" pitchFamily="18" charset="0"/>
                <a:cs typeface="Times New Roman" pitchFamily="18" charset="0"/>
              </a:rPr>
              <a:t> </a:t>
            </a:r>
            <a:r>
              <a:rPr lang="en-US" sz="1800" spc="-75" dirty="0">
                <a:solidFill>
                  <a:srgbClr val="1F2020"/>
                </a:solidFill>
                <a:latin typeface="Times New Roman" pitchFamily="18" charset="0"/>
                <a:cs typeface="Times New Roman" pitchFamily="18" charset="0"/>
              </a:rPr>
              <a:t>like</a:t>
            </a:r>
            <a:r>
              <a:rPr lang="en-US" sz="1800" spc="-7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Decision</a:t>
            </a:r>
            <a:r>
              <a:rPr lang="en-US" sz="1800" spc="-70"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Tree, </a:t>
            </a:r>
            <a:r>
              <a:rPr lang="en-US" sz="1800" dirty="0">
                <a:solidFill>
                  <a:srgbClr val="1F2020"/>
                </a:solidFill>
                <a:latin typeface="Times New Roman" pitchFamily="18" charset="0"/>
                <a:cs typeface="Times New Roman" pitchFamily="18" charset="0"/>
              </a:rPr>
              <a:t>Random</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Forest,</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Naive</a:t>
            </a:r>
            <a:r>
              <a:rPr lang="en-US" sz="1800" spc="114" dirty="0">
                <a:solidFill>
                  <a:srgbClr val="1F2020"/>
                </a:solidFill>
                <a:latin typeface="Times New Roman" pitchFamily="18" charset="0"/>
                <a:cs typeface="Times New Roman" pitchFamily="18" charset="0"/>
              </a:rPr>
              <a:t> </a:t>
            </a:r>
            <a:r>
              <a:rPr lang="en-US" sz="1800" spc="65" dirty="0">
                <a:solidFill>
                  <a:srgbClr val="1F2020"/>
                </a:solidFill>
                <a:latin typeface="Times New Roman" pitchFamily="18" charset="0"/>
                <a:cs typeface="Times New Roman" pitchFamily="18" charset="0"/>
              </a:rPr>
              <a:t>Bayes</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to</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predict</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diseases</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based</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on</a:t>
            </a:r>
            <a:r>
              <a:rPr lang="en-US" sz="1800" spc="110" dirty="0">
                <a:solidFill>
                  <a:srgbClr val="1F2020"/>
                </a:solidFill>
                <a:latin typeface="Times New Roman" pitchFamily="18" charset="0"/>
                <a:cs typeface="Times New Roman" pitchFamily="18" charset="0"/>
              </a:rPr>
              <a:t> </a:t>
            </a:r>
            <a:r>
              <a:rPr lang="en-US" sz="1800" spc="-120" dirty="0">
                <a:solidFill>
                  <a:srgbClr val="1F2020"/>
                </a:solidFill>
                <a:latin typeface="Times New Roman" pitchFamily="18" charset="0"/>
                <a:cs typeface="Times New Roman" pitchFamily="18" charset="0"/>
              </a:rPr>
              <a:t>user-</a:t>
            </a:r>
            <a:r>
              <a:rPr lang="en-US" sz="1800" dirty="0">
                <a:solidFill>
                  <a:srgbClr val="1F2020"/>
                </a:solidFill>
                <a:latin typeface="Times New Roman" pitchFamily="18" charset="0"/>
                <a:cs typeface="Times New Roman" pitchFamily="18" charset="0"/>
              </a:rPr>
              <a:t>input</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symptoms.</a:t>
            </a:r>
            <a:r>
              <a:rPr lang="en-US" sz="1800" spc="114"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goal</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is</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to</a:t>
            </a:r>
            <a:r>
              <a:rPr lang="en-US" sz="1800" spc="11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support </a:t>
            </a:r>
            <a:r>
              <a:rPr lang="en-US" sz="1800" dirty="0">
                <a:solidFill>
                  <a:srgbClr val="1F2020"/>
                </a:solidFill>
                <a:latin typeface="Times New Roman" pitchFamily="18" charset="0"/>
                <a:cs typeface="Times New Roman" pitchFamily="18" charset="0"/>
              </a:rPr>
              <a:t>timely</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accurate</a:t>
            </a:r>
            <a:r>
              <a:rPr lang="en-US" sz="1800" spc="-90" dirty="0">
                <a:solidFill>
                  <a:srgbClr val="1F2020"/>
                </a:solidFill>
                <a:latin typeface="Times New Roman" pitchFamily="18" charset="0"/>
                <a:cs typeface="Times New Roman" pitchFamily="18" charset="0"/>
              </a:rPr>
              <a:t> </a:t>
            </a:r>
            <a:r>
              <a:rPr lang="en-US" sz="1800" spc="-60" dirty="0">
                <a:solidFill>
                  <a:srgbClr val="1F2020"/>
                </a:solidFill>
                <a:latin typeface="Times New Roman" pitchFamily="18" charset="0"/>
                <a:cs typeface="Times New Roman" pitchFamily="18" charset="0"/>
              </a:rPr>
              <a:t>diagnosis,</a:t>
            </a:r>
            <a:r>
              <a:rPr lang="en-US" sz="1800" spc="-95" dirty="0">
                <a:solidFill>
                  <a:srgbClr val="1F2020"/>
                </a:solidFill>
                <a:latin typeface="Times New Roman" pitchFamily="18" charset="0"/>
                <a:cs typeface="Times New Roman" pitchFamily="18" charset="0"/>
              </a:rPr>
              <a:t> </a:t>
            </a:r>
            <a:r>
              <a:rPr lang="en-US" sz="1800" spc="-25" dirty="0">
                <a:solidFill>
                  <a:srgbClr val="1F2020"/>
                </a:solidFill>
                <a:latin typeface="Times New Roman" pitchFamily="18" charset="0"/>
                <a:cs typeface="Times New Roman" pitchFamily="18" charset="0"/>
              </a:rPr>
              <a:t>assist</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healthcare</a:t>
            </a:r>
            <a:r>
              <a:rPr lang="en-US" sz="1800" spc="-90" dirty="0">
                <a:solidFill>
                  <a:srgbClr val="1F2020"/>
                </a:solidFill>
                <a:latin typeface="Times New Roman" pitchFamily="18" charset="0"/>
                <a:cs typeface="Times New Roman" pitchFamily="18" charset="0"/>
              </a:rPr>
              <a:t> </a:t>
            </a:r>
            <a:r>
              <a:rPr lang="en-US" sz="1800" spc="-25" dirty="0">
                <a:solidFill>
                  <a:srgbClr val="1F2020"/>
                </a:solidFill>
                <a:latin typeface="Times New Roman" pitchFamily="18" charset="0"/>
                <a:cs typeface="Times New Roman" pitchFamily="18" charset="0"/>
              </a:rPr>
              <a:t>professionals,</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improve</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overall</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treatment</a:t>
            </a:r>
            <a:r>
              <a:rPr lang="en-US" sz="1800" spc="-95"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outcomes.</a:t>
            </a:r>
            <a:endParaRPr lang="en-US" sz="1800" dirty="0">
              <a:latin typeface="Times New Roman" pitchFamily="18" charset="0"/>
              <a:cs typeface="Times New Roman" pitchFamily="18" charset="0"/>
            </a:endParaRPr>
          </a:p>
          <a:p>
            <a:pPr algn="just"/>
            <a:endParaRPr lang="en-US" sz="1800" dirty="0">
              <a:latin typeface="Times New Roman" pitchFamily="18" charset="0"/>
              <a:cs typeface="Times New Roman" pitchFamily="18" charset="0"/>
            </a:endParaRPr>
          </a:p>
        </p:txBody>
      </p:sp>
      <p:grpSp>
        <p:nvGrpSpPr>
          <p:cNvPr id="4" name="object 2"/>
          <p:cNvGrpSpPr/>
          <p:nvPr/>
        </p:nvGrpSpPr>
        <p:grpSpPr>
          <a:xfrm>
            <a:off x="6781800" y="-228600"/>
            <a:ext cx="1866900" cy="1866900"/>
            <a:chOff x="197444" y="141115"/>
            <a:chExt cx="1866899" cy="1866899"/>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sp>
        <p:nvSpPr>
          <p:cNvPr id="8" name="Rectangle 7"/>
          <p:cNvSpPr/>
          <p:nvPr/>
        </p:nvSpPr>
        <p:spPr>
          <a:xfrm>
            <a:off x="3352800" y="6211669"/>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1494297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spc="310" dirty="0">
                <a:latin typeface="Times New Roman" pitchFamily="18" charset="0"/>
                <a:cs typeface="Times New Roman" pitchFamily="18" charset="0"/>
              </a:rPr>
              <a:t>PROBLEM</a:t>
            </a:r>
            <a:r>
              <a:rPr lang="en-US" sz="2400" b="1" spc="-20" dirty="0">
                <a:latin typeface="Times New Roman" pitchFamily="18" charset="0"/>
                <a:cs typeface="Times New Roman" pitchFamily="18" charset="0"/>
              </a:rPr>
              <a:t> </a:t>
            </a:r>
            <a:r>
              <a:rPr lang="en-US" sz="2400" b="1" spc="190" dirty="0">
                <a:latin typeface="Times New Roman" pitchFamily="18" charset="0"/>
                <a:cs typeface="Times New Roman" pitchFamily="18" charset="0"/>
              </a:rPr>
              <a:t>STATEMENT</a:t>
            </a:r>
            <a:endParaRPr lang="en-US" sz="24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71944"/>
            <a:ext cx="7620000" cy="4800600"/>
          </a:xfrm>
        </p:spPr>
        <p:txBody>
          <a:bodyPr/>
          <a:lstStyle/>
          <a:p>
            <a:pPr marL="0" marR="5080" indent="0" algn="just">
              <a:lnSpc>
                <a:spcPct val="114999"/>
              </a:lnSpc>
              <a:spcBef>
                <a:spcPts val="100"/>
              </a:spcBef>
              <a:buNone/>
            </a:pPr>
            <a:r>
              <a:rPr lang="en-US" sz="1800" spc="50" dirty="0">
                <a:solidFill>
                  <a:srgbClr val="1F2020"/>
                </a:solidFill>
                <a:latin typeface="Times New Roman" pitchFamily="18" charset="0"/>
                <a:cs typeface="Times New Roman" pitchFamily="18" charset="0"/>
              </a:rPr>
              <a:t>Early</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disease</a:t>
            </a:r>
            <a:r>
              <a:rPr lang="en-US" sz="1800" spc="10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diagnosis</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is</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difficult</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due</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to</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overlapping</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symptoms,</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limited</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expert</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access,</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time</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constraints</a:t>
            </a:r>
            <a:r>
              <a:rPr lang="en-US" sz="1800" spc="100" dirty="0">
                <a:solidFill>
                  <a:srgbClr val="1F2020"/>
                </a:solidFill>
                <a:latin typeface="Times New Roman" pitchFamily="18" charset="0"/>
                <a:cs typeface="Times New Roman" pitchFamily="18" charset="0"/>
              </a:rPr>
              <a:t> </a:t>
            </a:r>
            <a:r>
              <a:rPr lang="en-US" sz="1800" spc="-25" dirty="0">
                <a:solidFill>
                  <a:srgbClr val="1F2020"/>
                </a:solidFill>
                <a:latin typeface="Times New Roman" pitchFamily="18" charset="0"/>
                <a:cs typeface="Times New Roman" pitchFamily="18" charset="0"/>
              </a:rPr>
              <a:t>in </a:t>
            </a:r>
            <a:r>
              <a:rPr lang="en-US" sz="1800" dirty="0">
                <a:solidFill>
                  <a:srgbClr val="1F2020"/>
                </a:solidFill>
                <a:latin typeface="Times New Roman" pitchFamily="18" charset="0"/>
                <a:cs typeface="Times New Roman" pitchFamily="18" charset="0"/>
              </a:rPr>
              <a:t>busy</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clinical</a:t>
            </a:r>
            <a:r>
              <a:rPr lang="en-US" sz="1800" spc="-13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settings. Existing</a:t>
            </a:r>
            <a:r>
              <a:rPr lang="en-US" sz="1800" spc="-14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systems</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are</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narrow</a:t>
            </a:r>
            <a:r>
              <a:rPr lang="en-US" sz="1800" spc="-135" dirty="0">
                <a:solidFill>
                  <a:srgbClr val="1F2020"/>
                </a:solidFill>
                <a:latin typeface="Times New Roman" pitchFamily="18" charset="0"/>
                <a:cs typeface="Times New Roman" pitchFamily="18" charset="0"/>
              </a:rPr>
              <a:t> </a:t>
            </a:r>
            <a:r>
              <a:rPr lang="en-US" sz="1800" spc="-40" dirty="0">
                <a:solidFill>
                  <a:srgbClr val="1F2020"/>
                </a:solidFill>
                <a:latin typeface="Times New Roman" pitchFamily="18" charset="0"/>
                <a:cs typeface="Times New Roman" pitchFamily="18" charset="0"/>
              </a:rPr>
              <a:t>in</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scope</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135" dirty="0">
                <a:solidFill>
                  <a:srgbClr val="1F2020"/>
                </a:solidFill>
                <a:latin typeface="Times New Roman" pitchFamily="18" charset="0"/>
                <a:cs typeface="Times New Roman" pitchFamily="18" charset="0"/>
              </a:rPr>
              <a:t> </a:t>
            </a:r>
            <a:r>
              <a:rPr lang="en-US" sz="1800" spc="-35" dirty="0">
                <a:solidFill>
                  <a:srgbClr val="1F2020"/>
                </a:solidFill>
                <a:latin typeface="Times New Roman" pitchFamily="18" charset="0"/>
                <a:cs typeface="Times New Roman" pitchFamily="18" charset="0"/>
              </a:rPr>
              <a:t>lack</a:t>
            </a:r>
            <a:r>
              <a:rPr lang="en-US" sz="1800" spc="-135" dirty="0">
                <a:solidFill>
                  <a:srgbClr val="1F2020"/>
                </a:solidFill>
                <a:latin typeface="Times New Roman" pitchFamily="18" charset="0"/>
                <a:cs typeface="Times New Roman" pitchFamily="18" charset="0"/>
              </a:rPr>
              <a:t> </a:t>
            </a:r>
            <a:r>
              <a:rPr lang="en-US" sz="1800" spc="-65" dirty="0">
                <a:solidFill>
                  <a:srgbClr val="1F2020"/>
                </a:solidFill>
                <a:latin typeface="Times New Roman" pitchFamily="18" charset="0"/>
                <a:cs typeface="Times New Roman" pitchFamily="18" charset="0"/>
              </a:rPr>
              <a:t>symptom-</a:t>
            </a:r>
            <a:r>
              <a:rPr lang="en-US" sz="1800" dirty="0">
                <a:solidFill>
                  <a:srgbClr val="1F2020"/>
                </a:solidFill>
                <a:latin typeface="Times New Roman" pitchFamily="18" charset="0"/>
                <a:cs typeface="Times New Roman" pitchFamily="18" charset="0"/>
              </a:rPr>
              <a:t>based</a:t>
            </a:r>
            <a:r>
              <a:rPr lang="en-US" sz="1800" spc="-14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flexibility. This</a:t>
            </a:r>
            <a:r>
              <a:rPr lang="en-US" sz="180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project </a:t>
            </a:r>
            <a:r>
              <a:rPr lang="en-US" sz="1800" spc="-20" dirty="0">
                <a:solidFill>
                  <a:srgbClr val="1F2020"/>
                </a:solidFill>
                <a:latin typeface="Times New Roman" pitchFamily="18" charset="0"/>
                <a:cs typeface="Times New Roman" pitchFamily="18" charset="0"/>
              </a:rPr>
              <a:t>aims </a:t>
            </a:r>
            <a:r>
              <a:rPr lang="en-US" sz="1800" spc="-25" dirty="0">
                <a:solidFill>
                  <a:srgbClr val="1F2020"/>
                </a:solidFill>
                <a:latin typeface="Times New Roman" pitchFamily="18" charset="0"/>
                <a:cs typeface="Times New Roman" pitchFamily="18" charset="0"/>
              </a:rPr>
              <a:t>to </a:t>
            </a:r>
            <a:r>
              <a:rPr lang="en-US" sz="1800" spc="-10" dirty="0">
                <a:solidFill>
                  <a:srgbClr val="1F2020"/>
                </a:solidFill>
                <a:latin typeface="Times New Roman" pitchFamily="18" charset="0"/>
                <a:cs typeface="Times New Roman" pitchFamily="18" charset="0"/>
              </a:rPr>
              <a:t>build</a:t>
            </a:r>
            <a:r>
              <a:rPr lang="en-US" sz="1800" dirty="0">
                <a:solidFill>
                  <a:srgbClr val="1F2020"/>
                </a:solidFill>
                <a:latin typeface="Times New Roman" pitchFamily="18" charset="0"/>
                <a:cs typeface="Times New Roman" pitchFamily="18" charset="0"/>
              </a:rPr>
              <a:t> </a:t>
            </a:r>
            <a:r>
              <a:rPr lang="en-US" sz="1800" spc="-25" dirty="0">
                <a:solidFill>
                  <a:srgbClr val="1F2020"/>
                </a:solidFill>
                <a:latin typeface="Times New Roman" pitchFamily="18" charset="0"/>
                <a:cs typeface="Times New Roman" pitchFamily="18" charset="0"/>
              </a:rPr>
              <a:t>an </a:t>
            </a:r>
            <a:r>
              <a:rPr lang="en-US" sz="1800" spc="-125" dirty="0">
                <a:solidFill>
                  <a:srgbClr val="1F2020"/>
                </a:solidFill>
                <a:latin typeface="Times New Roman" pitchFamily="18" charset="0"/>
                <a:cs typeface="Times New Roman" pitchFamily="18" charset="0"/>
              </a:rPr>
              <a:t>ML-</a:t>
            </a:r>
            <a:r>
              <a:rPr lang="en-US" sz="1800" spc="-10" dirty="0">
                <a:solidFill>
                  <a:srgbClr val="1F2020"/>
                </a:solidFill>
                <a:latin typeface="Times New Roman" pitchFamily="18" charset="0"/>
                <a:cs typeface="Times New Roman" pitchFamily="18" charset="0"/>
              </a:rPr>
              <a:t>based</a:t>
            </a:r>
            <a:r>
              <a:rPr lang="en-US" sz="180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model </a:t>
            </a:r>
            <a:r>
              <a:rPr lang="en-US" sz="1800" spc="-20" dirty="0">
                <a:solidFill>
                  <a:srgbClr val="1F2020"/>
                </a:solidFill>
                <a:latin typeface="Times New Roman" pitchFamily="18" charset="0"/>
                <a:cs typeface="Times New Roman" pitchFamily="18" charset="0"/>
              </a:rPr>
              <a:t>that </a:t>
            </a:r>
            <a:r>
              <a:rPr lang="en-US" sz="1800" spc="-10" dirty="0">
                <a:solidFill>
                  <a:srgbClr val="1F2020"/>
                </a:solidFill>
                <a:latin typeface="Times New Roman" pitchFamily="18" charset="0"/>
                <a:cs typeface="Times New Roman" pitchFamily="18" charset="0"/>
              </a:rPr>
              <a:t>predicts</a:t>
            </a:r>
            <a:r>
              <a:rPr lang="en-US" sz="180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diseases</a:t>
            </a:r>
            <a:r>
              <a:rPr lang="en-US" sz="1800"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from</a:t>
            </a:r>
            <a:r>
              <a:rPr lang="en-US" sz="180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multiple symptoms, improving</a:t>
            </a:r>
            <a:r>
              <a:rPr lang="en-US" sz="1800" spc="-30" dirty="0">
                <a:solidFill>
                  <a:srgbClr val="1F2020"/>
                </a:solidFill>
                <a:latin typeface="Times New Roman" pitchFamily="18" charset="0"/>
                <a:cs typeface="Times New Roman" pitchFamily="18" charset="0"/>
              </a:rPr>
              <a:t> </a:t>
            </a:r>
            <a:r>
              <a:rPr lang="en-US" sz="1800" spc="-50" dirty="0">
                <a:solidFill>
                  <a:srgbClr val="1F2020"/>
                </a:solidFill>
                <a:latin typeface="Times New Roman" pitchFamily="18" charset="0"/>
                <a:cs typeface="Times New Roman" pitchFamily="18" charset="0"/>
              </a:rPr>
              <a:t>diagnosis</a:t>
            </a:r>
            <a:r>
              <a:rPr lang="en-US" sz="1800" spc="-114"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speed,</a:t>
            </a:r>
            <a:r>
              <a:rPr lang="en-US" sz="1800" spc="-114"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accuracy,</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114"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support</a:t>
            </a:r>
            <a:r>
              <a:rPr lang="en-US" sz="1800" spc="-11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for</a:t>
            </a:r>
            <a:r>
              <a:rPr lang="en-US" sz="1800" spc="-114"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physicians.</a:t>
            </a:r>
            <a:endParaRPr lang="en-US" sz="1800" dirty="0">
              <a:latin typeface="Times New Roman" pitchFamily="18" charset="0"/>
              <a:cs typeface="Times New Roman" pitchFamily="18" charset="0"/>
            </a:endParaRPr>
          </a:p>
        </p:txBody>
      </p:sp>
      <p:grpSp>
        <p:nvGrpSpPr>
          <p:cNvPr id="4" name="object 2"/>
          <p:cNvGrpSpPr/>
          <p:nvPr/>
        </p:nvGrpSpPr>
        <p:grpSpPr>
          <a:xfrm>
            <a:off x="6798903" y="-265090"/>
            <a:ext cx="1866900" cy="18669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sp>
        <p:nvSpPr>
          <p:cNvPr id="8" name="Rectangle 7"/>
          <p:cNvSpPr/>
          <p:nvPr/>
        </p:nvSpPr>
        <p:spPr>
          <a:xfrm>
            <a:off x="3352800" y="6256403"/>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2732709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spc="70" dirty="0">
                <a:latin typeface="Times New Roman" pitchFamily="18" charset="0"/>
                <a:cs typeface="Times New Roman" pitchFamily="18" charset="0"/>
              </a:rPr>
              <a:t>OBJECTIVES</a:t>
            </a:r>
            <a:endParaRPr lang="en-US" sz="24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800" spc="-10" dirty="0">
                <a:solidFill>
                  <a:srgbClr val="1F2020"/>
                </a:solidFill>
                <a:latin typeface="Times New Roman" pitchFamily="18" charset="0"/>
                <a:cs typeface="Times New Roman" pitchFamily="18" charset="0"/>
              </a:rPr>
              <a:t>Disease</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Prediction:</a:t>
            </a:r>
            <a:r>
              <a:rPr lang="en-US" sz="1800" spc="-8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Create</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a:t>
            </a:r>
            <a:r>
              <a:rPr lang="en-US" sz="1800" spc="-95" dirty="0">
                <a:solidFill>
                  <a:srgbClr val="1F2020"/>
                </a:solidFill>
                <a:latin typeface="Times New Roman" pitchFamily="18" charset="0"/>
                <a:cs typeface="Times New Roman" pitchFamily="18" charset="0"/>
              </a:rPr>
              <a:t> </a:t>
            </a:r>
            <a:r>
              <a:rPr lang="en-US" sz="1800" spc="-110" dirty="0">
                <a:solidFill>
                  <a:srgbClr val="1F2020"/>
                </a:solidFill>
                <a:latin typeface="Times New Roman" pitchFamily="18" charset="0"/>
                <a:cs typeface="Times New Roman" pitchFamily="18" charset="0"/>
              </a:rPr>
              <a:t>ML-</a:t>
            </a:r>
            <a:r>
              <a:rPr lang="en-US" sz="1800" dirty="0">
                <a:solidFill>
                  <a:srgbClr val="1F2020"/>
                </a:solidFill>
                <a:latin typeface="Times New Roman" pitchFamily="18" charset="0"/>
                <a:cs typeface="Times New Roman" pitchFamily="18" charset="0"/>
              </a:rPr>
              <a:t>based</a:t>
            </a:r>
            <a:r>
              <a:rPr lang="en-US" sz="1800" spc="-9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disease</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prediction</a:t>
            </a:r>
            <a:r>
              <a:rPr lang="en-US" sz="1800" spc="-9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system</a:t>
            </a:r>
            <a:r>
              <a:rPr lang="en-US" sz="1800" spc="-9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based</a:t>
            </a:r>
            <a:r>
              <a:rPr lang="en-US" sz="1800" spc="-9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on</a:t>
            </a:r>
            <a:r>
              <a:rPr lang="en-US" sz="1800" spc="-9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symptoms.</a:t>
            </a:r>
            <a:r>
              <a:rPr lang="en-US" sz="1800" spc="560" dirty="0">
                <a:solidFill>
                  <a:srgbClr val="1F2020"/>
                </a:solidFill>
                <a:latin typeface="Times New Roman" pitchFamily="18" charset="0"/>
                <a:cs typeface="Times New Roman" pitchFamily="18" charset="0"/>
              </a:rPr>
              <a:t> </a:t>
            </a:r>
          </a:p>
          <a:p>
            <a:pPr algn="just"/>
            <a:r>
              <a:rPr lang="en-US" sz="1800" dirty="0">
                <a:solidFill>
                  <a:srgbClr val="1F2020"/>
                </a:solidFill>
                <a:latin typeface="Times New Roman" pitchFamily="18" charset="0"/>
                <a:cs typeface="Times New Roman" pitchFamily="18" charset="0"/>
              </a:rPr>
              <a:t>Dataset</a:t>
            </a:r>
            <a:r>
              <a:rPr lang="en-US" sz="1800" spc="-75" dirty="0">
                <a:solidFill>
                  <a:srgbClr val="1F2020"/>
                </a:solidFill>
                <a:latin typeface="Times New Roman" pitchFamily="18" charset="0"/>
                <a:cs typeface="Times New Roman" pitchFamily="18" charset="0"/>
              </a:rPr>
              <a:t> </a:t>
            </a:r>
            <a:r>
              <a:rPr lang="en-US" sz="1800" spc="-30" dirty="0">
                <a:solidFill>
                  <a:srgbClr val="1F2020"/>
                </a:solidFill>
                <a:latin typeface="Times New Roman" pitchFamily="18" charset="0"/>
                <a:cs typeface="Times New Roman" pitchFamily="18" charset="0"/>
              </a:rPr>
              <a:t>Analysis:</a:t>
            </a:r>
            <a:r>
              <a:rPr lang="en-US" sz="1800" spc="-7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Investigate</a:t>
            </a:r>
            <a:r>
              <a:rPr lang="en-US" sz="1800" spc="-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symptom–disease</a:t>
            </a:r>
            <a:r>
              <a:rPr lang="en-US" sz="1800" spc="-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data</a:t>
            </a:r>
            <a:r>
              <a:rPr lang="en-US" sz="1800" spc="-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to</a:t>
            </a:r>
            <a:r>
              <a:rPr lang="en-US" sz="1800" spc="-85"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find</a:t>
            </a:r>
            <a:r>
              <a:rPr lang="en-US" sz="1800" spc="-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8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most</a:t>
            </a:r>
            <a:r>
              <a:rPr lang="en-US" sz="1800" spc="-7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important</a:t>
            </a:r>
            <a:r>
              <a:rPr lang="en-US" sz="1800" spc="-7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patterns. </a:t>
            </a:r>
          </a:p>
          <a:p>
            <a:pPr algn="just"/>
            <a:r>
              <a:rPr lang="en-US" sz="1800" dirty="0">
                <a:solidFill>
                  <a:srgbClr val="1F2020"/>
                </a:solidFill>
                <a:latin typeface="Times New Roman" pitchFamily="18" charset="0"/>
                <a:cs typeface="Times New Roman" pitchFamily="18" charset="0"/>
              </a:rPr>
              <a:t>Symptom</a:t>
            </a:r>
            <a:r>
              <a:rPr lang="en-US" sz="1800" spc="-40" dirty="0">
                <a:solidFill>
                  <a:srgbClr val="1F2020"/>
                </a:solidFill>
                <a:latin typeface="Times New Roman" pitchFamily="18" charset="0"/>
                <a:cs typeface="Times New Roman" pitchFamily="18" charset="0"/>
              </a:rPr>
              <a:t> Optimization:</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Determine</a:t>
            </a:r>
            <a:r>
              <a:rPr lang="en-US" sz="1800" spc="-4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most</a:t>
            </a:r>
            <a:r>
              <a:rPr lang="en-US" sz="1800" spc="-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effective</a:t>
            </a:r>
            <a:r>
              <a:rPr lang="en-US" sz="1800" spc="-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symptoms</a:t>
            </a:r>
            <a:r>
              <a:rPr lang="en-US" sz="1800" spc="-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to</a:t>
            </a:r>
            <a:r>
              <a:rPr lang="en-US" sz="1800" spc="-40" dirty="0">
                <a:solidFill>
                  <a:srgbClr val="1F2020"/>
                </a:solidFill>
                <a:latin typeface="Times New Roman" pitchFamily="18" charset="0"/>
                <a:cs typeface="Times New Roman" pitchFamily="18" charset="0"/>
              </a:rPr>
              <a:t> </a:t>
            </a:r>
            <a:r>
              <a:rPr lang="en-US" sz="1800" spc="-50" dirty="0">
                <a:solidFill>
                  <a:srgbClr val="1F2020"/>
                </a:solidFill>
                <a:latin typeface="Times New Roman" pitchFamily="18" charset="0"/>
                <a:cs typeface="Times New Roman" pitchFamily="18" charset="0"/>
              </a:rPr>
              <a:t>make</a:t>
            </a:r>
            <a:r>
              <a:rPr lang="en-US" sz="1800" spc="-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accurate</a:t>
            </a:r>
            <a:r>
              <a:rPr lang="en-US" sz="1800" spc="-4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predictions.</a:t>
            </a:r>
            <a:endParaRPr lang="en-US" sz="1800" dirty="0">
              <a:latin typeface="Times New Roman" pitchFamily="18" charset="0"/>
              <a:cs typeface="Times New Roman" pitchFamily="18" charset="0"/>
            </a:endParaRPr>
          </a:p>
          <a:p>
            <a:pPr algn="just"/>
            <a:endParaRPr lang="en-US" sz="1800" dirty="0">
              <a:latin typeface="Times New Roman" pitchFamily="18" charset="0"/>
              <a:cs typeface="Times New Roman" pitchFamily="18" charset="0"/>
            </a:endParaRPr>
          </a:p>
        </p:txBody>
      </p:sp>
      <p:grpSp>
        <p:nvGrpSpPr>
          <p:cNvPr id="4" name="object 2"/>
          <p:cNvGrpSpPr/>
          <p:nvPr/>
        </p:nvGrpSpPr>
        <p:grpSpPr>
          <a:xfrm>
            <a:off x="6781800" y="-247049"/>
            <a:ext cx="1866900" cy="18669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sp>
        <p:nvSpPr>
          <p:cNvPr id="8" name="Rectangle 7"/>
          <p:cNvSpPr/>
          <p:nvPr/>
        </p:nvSpPr>
        <p:spPr>
          <a:xfrm>
            <a:off x="3352800" y="6197476"/>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235278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1"/>
            <a:ext cx="3962400" cy="1235961"/>
          </a:xfrm>
        </p:spPr>
        <p:txBody>
          <a:bodyPr/>
          <a:lstStyle/>
          <a:p>
            <a:r>
              <a:rPr lang="en-US" sz="2400" b="1" dirty="0"/>
              <a:t>LITERATURE  SURVEY</a:t>
            </a:r>
          </a:p>
        </p:txBody>
      </p:sp>
      <p:sp>
        <p:nvSpPr>
          <p:cNvPr id="8" name="Rectangle 7"/>
          <p:cNvSpPr/>
          <p:nvPr/>
        </p:nvSpPr>
        <p:spPr>
          <a:xfrm>
            <a:off x="3352800" y="6211669"/>
            <a:ext cx="5334000"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Department of Computer Science and Engineering</a:t>
            </a:r>
            <a:endParaRPr lang="en-US" b="1" dirty="0">
              <a:latin typeface="Times New Roman" panose="02020603050405020304" pitchFamily="18" charset="0"/>
              <a:cs typeface="Times New Roman" panose="02020603050405020304" pitchFamily="18" charset="0"/>
            </a:endParaRP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4255617543"/>
              </p:ext>
            </p:extLst>
          </p:nvPr>
        </p:nvGraphicFramePr>
        <p:xfrm>
          <a:off x="0" y="1295399"/>
          <a:ext cx="8458200" cy="4916269"/>
        </p:xfrm>
        <a:graphic>
          <a:graphicData uri="http://schemas.openxmlformats.org/drawingml/2006/table">
            <a:tbl>
              <a:tblPr firstRow="1" bandRow="1">
                <a:tableStyleId>{5C22544A-7EE6-4342-B048-85BDC9FD1C3A}</a:tableStyleId>
              </a:tblPr>
              <a:tblGrid>
                <a:gridCol w="610096">
                  <a:extLst>
                    <a:ext uri="{9D8B030D-6E8A-4147-A177-3AD203B41FA5}">
                      <a16:colId xmlns:a16="http://schemas.microsoft.com/office/drawing/2014/main" val="20000"/>
                    </a:ext>
                  </a:extLst>
                </a:gridCol>
                <a:gridCol w="1599948">
                  <a:extLst>
                    <a:ext uri="{9D8B030D-6E8A-4147-A177-3AD203B41FA5}">
                      <a16:colId xmlns:a16="http://schemas.microsoft.com/office/drawing/2014/main" val="20001"/>
                    </a:ext>
                  </a:extLst>
                </a:gridCol>
                <a:gridCol w="1277041">
                  <a:extLst>
                    <a:ext uri="{9D8B030D-6E8A-4147-A177-3AD203B41FA5}">
                      <a16:colId xmlns:a16="http://schemas.microsoft.com/office/drawing/2014/main" val="20002"/>
                    </a:ext>
                  </a:extLst>
                </a:gridCol>
                <a:gridCol w="1498372">
                  <a:extLst>
                    <a:ext uri="{9D8B030D-6E8A-4147-A177-3AD203B41FA5}">
                      <a16:colId xmlns:a16="http://schemas.microsoft.com/office/drawing/2014/main" val="20003"/>
                    </a:ext>
                  </a:extLst>
                </a:gridCol>
                <a:gridCol w="1358900">
                  <a:extLst>
                    <a:ext uri="{9D8B030D-6E8A-4147-A177-3AD203B41FA5}">
                      <a16:colId xmlns:a16="http://schemas.microsoft.com/office/drawing/2014/main" val="20004"/>
                    </a:ext>
                  </a:extLst>
                </a:gridCol>
                <a:gridCol w="1048605">
                  <a:extLst>
                    <a:ext uri="{9D8B030D-6E8A-4147-A177-3AD203B41FA5}">
                      <a16:colId xmlns:a16="http://schemas.microsoft.com/office/drawing/2014/main" val="20005"/>
                    </a:ext>
                  </a:extLst>
                </a:gridCol>
                <a:gridCol w="1065238">
                  <a:extLst>
                    <a:ext uri="{9D8B030D-6E8A-4147-A177-3AD203B41FA5}">
                      <a16:colId xmlns:a16="http://schemas.microsoft.com/office/drawing/2014/main" val="20006"/>
                    </a:ext>
                  </a:extLst>
                </a:gridCol>
              </a:tblGrid>
              <a:tr h="975450">
                <a:tc>
                  <a:txBody>
                    <a:bodyPr/>
                    <a:lstStyle/>
                    <a:p>
                      <a:r>
                        <a:rPr lang="en-US" dirty="0"/>
                        <a:t>SNO</a:t>
                      </a:r>
                    </a:p>
                  </a:txBody>
                  <a:tcPr/>
                </a:tc>
                <a:tc>
                  <a:txBody>
                    <a:bodyPr/>
                    <a:lstStyle/>
                    <a:p>
                      <a:r>
                        <a:rPr lang="en-US" dirty="0"/>
                        <a:t>Title</a:t>
                      </a:r>
                    </a:p>
                  </a:txBody>
                  <a:tcPr/>
                </a:tc>
                <a:tc>
                  <a:txBody>
                    <a:bodyPr/>
                    <a:lstStyle/>
                    <a:p>
                      <a:r>
                        <a:rPr lang="en-US" dirty="0"/>
                        <a:t>Techniques</a:t>
                      </a:r>
                    </a:p>
                  </a:txBody>
                  <a:tcPr/>
                </a:tc>
                <a:tc>
                  <a:txBody>
                    <a:bodyPr/>
                    <a:lstStyle/>
                    <a:p>
                      <a:r>
                        <a:rPr lang="en-US" dirty="0"/>
                        <a:t>Methodology</a:t>
                      </a:r>
                    </a:p>
                  </a:txBody>
                  <a:tcPr/>
                </a:tc>
                <a:tc>
                  <a:txBody>
                    <a:bodyPr/>
                    <a:lstStyle/>
                    <a:p>
                      <a:r>
                        <a:rPr lang="en-US" dirty="0"/>
                        <a:t>Performance</a:t>
                      </a:r>
                    </a:p>
                  </a:txBody>
                  <a:tcPr/>
                </a:tc>
                <a:tc>
                  <a:txBody>
                    <a:bodyPr/>
                    <a:lstStyle/>
                    <a:p>
                      <a:r>
                        <a:rPr lang="en-US" dirty="0"/>
                        <a:t>Research</a:t>
                      </a:r>
                      <a:r>
                        <a:rPr lang="en-US" baseline="0" dirty="0"/>
                        <a:t> Gaps</a:t>
                      </a:r>
                      <a:endParaRPr lang="en-US" dirty="0"/>
                    </a:p>
                  </a:txBody>
                  <a:tcPr/>
                </a:tc>
                <a:tc>
                  <a:txBody>
                    <a:bodyPr/>
                    <a:lstStyle/>
                    <a:p>
                      <a:r>
                        <a:rPr lang="en-US" dirty="0"/>
                        <a:t>System</a:t>
                      </a:r>
                    </a:p>
                    <a:p>
                      <a:r>
                        <a:rPr lang="en-US" dirty="0"/>
                        <a:t>Architecture</a:t>
                      </a:r>
                    </a:p>
                  </a:txBody>
                  <a:tcPr/>
                </a:tc>
                <a:extLst>
                  <a:ext uri="{0D108BD9-81ED-4DB2-BD59-A6C34878D82A}">
                    <a16:rowId xmlns:a16="http://schemas.microsoft.com/office/drawing/2014/main" val="10000"/>
                  </a:ext>
                </a:extLst>
              </a:tr>
              <a:tr h="3940819">
                <a:tc>
                  <a:txBody>
                    <a:bodyPr/>
                    <a:lstStyle/>
                    <a:p>
                      <a:r>
                        <a:rPr lang="en-US" dirty="0"/>
                        <a:t>1</a:t>
                      </a:r>
                    </a:p>
                  </a:txBody>
                  <a:tcPr/>
                </a:tc>
                <a:tc>
                  <a:txBody>
                    <a:bodyPr/>
                    <a:lstStyle/>
                    <a:p>
                      <a:r>
                        <a:rPr lang="en-US" i="1" dirty="0"/>
                        <a:t>Disease Prediction using Machine Learning Algorithms</a:t>
                      </a:r>
                      <a:r>
                        <a:rPr lang="en-US" dirty="0"/>
                        <a:t> </a:t>
                      </a:r>
                      <a:br>
                        <a:rPr lang="en-US" dirty="0"/>
                      </a:br>
                      <a:r>
                        <a:rPr lang="en-US" dirty="0"/>
                        <a:t>(Sneha et al., 2020)</a:t>
                      </a:r>
                    </a:p>
                  </a:txBody>
                  <a:tcPr/>
                </a:tc>
                <a:tc>
                  <a:txBody>
                    <a:bodyPr/>
                    <a:lstStyle/>
                    <a:p>
                      <a:r>
                        <a:rPr lang="en-US" dirty="0"/>
                        <a:t>Decision Tree, Random Forest, Naïve Bayes</a:t>
                      </a:r>
                    </a:p>
                  </a:txBody>
                  <a:tcPr/>
                </a:tc>
                <a:tc>
                  <a:txBody>
                    <a:bodyPr/>
                    <a:lstStyle/>
                    <a:p>
                      <a:r>
                        <a:rPr lang="en-US" dirty="0"/>
                        <a:t>Comparative study of classifiers using symptoms dataset (4920 patient records, 95 symptoms, 41 diseases)</a:t>
                      </a:r>
                    </a:p>
                  </a:txBody>
                  <a:tcPr/>
                </a:tc>
                <a:tc>
                  <a:txBody>
                    <a:bodyPr/>
                    <a:lstStyle/>
                    <a:p>
                      <a:r>
                        <a:rPr lang="en-IN" dirty="0"/>
                        <a:t>Accuracy: 95.12%</a:t>
                      </a:r>
                      <a:endParaRPr lang="en-US" dirty="0"/>
                    </a:p>
                  </a:txBody>
                  <a:tcPr/>
                </a:tc>
                <a:tc>
                  <a:txBody>
                    <a:bodyPr/>
                    <a:lstStyle/>
                    <a:p>
                      <a:r>
                        <a:rPr lang="en-US" dirty="0"/>
                        <a:t>Overfitting issue with Decision Tree when using full symptoms dataset</a:t>
                      </a:r>
                    </a:p>
                  </a:txBody>
                  <a:tcPr/>
                </a:tc>
                <a:tc>
                  <a:txBody>
                    <a:bodyPr/>
                    <a:lstStyle/>
                    <a:p>
                      <a:r>
                        <a:rPr lang="en-US" dirty="0"/>
                        <a:t>GUI-based system; rule-based model; 3 algorithms for backend classification</a:t>
                      </a:r>
                    </a:p>
                  </a:txBody>
                  <a:tcPr/>
                </a:tc>
                <a:extLst>
                  <a:ext uri="{0D108BD9-81ED-4DB2-BD59-A6C34878D82A}">
                    <a16:rowId xmlns:a16="http://schemas.microsoft.com/office/drawing/2014/main" val="10001"/>
                  </a:ext>
                </a:extLst>
              </a:tr>
            </a:tbl>
          </a:graphicData>
        </a:graphic>
      </p:graphicFrame>
      <p:pic>
        <p:nvPicPr>
          <p:cNvPr id="10" name="object 4"/>
          <p:cNvPicPr/>
          <p:nvPr/>
        </p:nvPicPr>
        <p:blipFill>
          <a:blip r:embed="rId2" cstate="print"/>
          <a:stretch>
            <a:fillRect/>
          </a:stretch>
        </p:blipFill>
        <p:spPr>
          <a:xfrm>
            <a:off x="7391400" y="-13447"/>
            <a:ext cx="1181099" cy="1153069"/>
          </a:xfrm>
          <a:prstGeom prst="rect">
            <a:avLst/>
          </a:prstGeom>
        </p:spPr>
      </p:pic>
    </p:spTree>
    <p:extLst>
      <p:ext uri="{BB962C8B-B14F-4D97-AF65-F5344CB8AC3E}">
        <p14:creationId xmlns:p14="http://schemas.microsoft.com/office/powerpoint/2010/main" val="2078880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8">
            <a:extLst>
              <a:ext uri="{FF2B5EF4-FFF2-40B4-BE49-F238E27FC236}">
                <a16:creationId xmlns:a16="http://schemas.microsoft.com/office/drawing/2014/main" id="{EEE7093A-E8A4-DDC3-7CCA-72E3A0E1A885}"/>
              </a:ext>
            </a:extLst>
          </p:cNvPr>
          <p:cNvGraphicFramePr>
            <a:graphicFrameLocks noGrp="1"/>
          </p:cNvGraphicFramePr>
          <p:nvPr>
            <p:ph idx="1"/>
            <p:extLst>
              <p:ext uri="{D42A27DB-BD31-4B8C-83A1-F6EECF244321}">
                <p14:modId xmlns:p14="http://schemas.microsoft.com/office/powerpoint/2010/main" val="2265576173"/>
              </p:ext>
            </p:extLst>
          </p:nvPr>
        </p:nvGraphicFramePr>
        <p:xfrm>
          <a:off x="0" y="1143000"/>
          <a:ext cx="8458200" cy="5029200"/>
        </p:xfrm>
        <a:graphic>
          <a:graphicData uri="http://schemas.openxmlformats.org/drawingml/2006/table">
            <a:tbl>
              <a:tblPr firstRow="1" bandRow="1">
                <a:tableStyleId>{5C22544A-7EE6-4342-B048-85BDC9FD1C3A}</a:tableStyleId>
              </a:tblPr>
              <a:tblGrid>
                <a:gridCol w="536749">
                  <a:extLst>
                    <a:ext uri="{9D8B030D-6E8A-4147-A177-3AD203B41FA5}">
                      <a16:colId xmlns:a16="http://schemas.microsoft.com/office/drawing/2014/main" val="20000"/>
                    </a:ext>
                  </a:extLst>
                </a:gridCol>
                <a:gridCol w="1614900">
                  <a:extLst>
                    <a:ext uri="{9D8B030D-6E8A-4147-A177-3AD203B41FA5}">
                      <a16:colId xmlns:a16="http://schemas.microsoft.com/office/drawing/2014/main" val="20001"/>
                    </a:ext>
                  </a:extLst>
                </a:gridCol>
                <a:gridCol w="1288976">
                  <a:extLst>
                    <a:ext uri="{9D8B030D-6E8A-4147-A177-3AD203B41FA5}">
                      <a16:colId xmlns:a16="http://schemas.microsoft.com/office/drawing/2014/main" val="20002"/>
                    </a:ext>
                  </a:extLst>
                </a:gridCol>
                <a:gridCol w="1512376">
                  <a:extLst>
                    <a:ext uri="{9D8B030D-6E8A-4147-A177-3AD203B41FA5}">
                      <a16:colId xmlns:a16="http://schemas.microsoft.com/office/drawing/2014/main" val="20003"/>
                    </a:ext>
                  </a:extLst>
                </a:gridCol>
                <a:gridCol w="1371601">
                  <a:extLst>
                    <a:ext uri="{9D8B030D-6E8A-4147-A177-3AD203B41FA5}">
                      <a16:colId xmlns:a16="http://schemas.microsoft.com/office/drawing/2014/main" val="20004"/>
                    </a:ext>
                  </a:extLst>
                </a:gridCol>
                <a:gridCol w="1058404">
                  <a:extLst>
                    <a:ext uri="{9D8B030D-6E8A-4147-A177-3AD203B41FA5}">
                      <a16:colId xmlns:a16="http://schemas.microsoft.com/office/drawing/2014/main" val="20005"/>
                    </a:ext>
                  </a:extLst>
                </a:gridCol>
                <a:gridCol w="1075194">
                  <a:extLst>
                    <a:ext uri="{9D8B030D-6E8A-4147-A177-3AD203B41FA5}">
                      <a16:colId xmlns:a16="http://schemas.microsoft.com/office/drawing/2014/main" val="20006"/>
                    </a:ext>
                  </a:extLst>
                </a:gridCol>
              </a:tblGrid>
              <a:tr h="751609">
                <a:tc>
                  <a:txBody>
                    <a:bodyPr/>
                    <a:lstStyle/>
                    <a:p>
                      <a:r>
                        <a:rPr lang="en-US" dirty="0"/>
                        <a:t>SNO</a:t>
                      </a:r>
                    </a:p>
                  </a:txBody>
                  <a:tcPr/>
                </a:tc>
                <a:tc>
                  <a:txBody>
                    <a:bodyPr/>
                    <a:lstStyle/>
                    <a:p>
                      <a:r>
                        <a:rPr lang="en-US" dirty="0"/>
                        <a:t>Title</a:t>
                      </a:r>
                    </a:p>
                  </a:txBody>
                  <a:tcPr/>
                </a:tc>
                <a:tc>
                  <a:txBody>
                    <a:bodyPr/>
                    <a:lstStyle/>
                    <a:p>
                      <a:r>
                        <a:rPr lang="en-US" dirty="0"/>
                        <a:t>Techniques</a:t>
                      </a:r>
                    </a:p>
                  </a:txBody>
                  <a:tcPr/>
                </a:tc>
                <a:tc>
                  <a:txBody>
                    <a:bodyPr/>
                    <a:lstStyle/>
                    <a:p>
                      <a:r>
                        <a:rPr lang="en-US" dirty="0"/>
                        <a:t>Methodology</a:t>
                      </a:r>
                    </a:p>
                  </a:txBody>
                  <a:tcPr/>
                </a:tc>
                <a:tc>
                  <a:txBody>
                    <a:bodyPr/>
                    <a:lstStyle/>
                    <a:p>
                      <a:r>
                        <a:rPr lang="en-US" dirty="0"/>
                        <a:t>Performance</a:t>
                      </a:r>
                    </a:p>
                  </a:txBody>
                  <a:tcPr/>
                </a:tc>
                <a:tc>
                  <a:txBody>
                    <a:bodyPr/>
                    <a:lstStyle/>
                    <a:p>
                      <a:r>
                        <a:rPr lang="en-US" dirty="0"/>
                        <a:t>Research</a:t>
                      </a:r>
                      <a:r>
                        <a:rPr lang="en-US" baseline="0" dirty="0"/>
                        <a:t> Gaps</a:t>
                      </a:r>
                      <a:endParaRPr lang="en-US" dirty="0"/>
                    </a:p>
                  </a:txBody>
                  <a:tcPr/>
                </a:tc>
                <a:tc>
                  <a:txBody>
                    <a:bodyPr/>
                    <a:lstStyle/>
                    <a:p>
                      <a:r>
                        <a:rPr lang="en-US" dirty="0"/>
                        <a:t>System</a:t>
                      </a:r>
                    </a:p>
                    <a:p>
                      <a:r>
                        <a:rPr lang="en-US" dirty="0"/>
                        <a:t>Architecture</a:t>
                      </a:r>
                    </a:p>
                  </a:txBody>
                  <a:tcPr/>
                </a:tc>
                <a:extLst>
                  <a:ext uri="{0D108BD9-81ED-4DB2-BD59-A6C34878D82A}">
                    <a16:rowId xmlns:a16="http://schemas.microsoft.com/office/drawing/2014/main" val="10000"/>
                  </a:ext>
                </a:extLst>
              </a:tr>
              <a:tr h="4114800">
                <a:tc>
                  <a:txBody>
                    <a:bodyPr/>
                    <a:lstStyle/>
                    <a:p>
                      <a:r>
                        <a:rPr lang="en-US" dirty="0"/>
                        <a:t>2</a:t>
                      </a:r>
                    </a:p>
                  </a:txBody>
                  <a:tcPr/>
                </a:tc>
                <a:tc>
                  <a:txBody>
                    <a:bodyPr/>
                    <a:lstStyle/>
                    <a:p>
                      <a:r>
                        <a:rPr lang="en-US" i="1" dirty="0"/>
                        <a:t>The Prediction of Disease Using Machine Learning</a:t>
                      </a:r>
                      <a:r>
                        <a:rPr lang="en-US" dirty="0"/>
                        <a:t> </a:t>
                      </a:r>
                      <a:br>
                        <a:rPr lang="en-US" dirty="0"/>
                      </a:br>
                      <a:r>
                        <a:rPr lang="en-US" dirty="0"/>
                        <a:t>(Gomathy et al., 2021)</a:t>
                      </a:r>
                    </a:p>
                  </a:txBody>
                  <a:tcPr/>
                </a:tc>
                <a:tc>
                  <a:txBody>
                    <a:bodyPr/>
                    <a:lstStyle/>
                    <a:p>
                      <a:r>
                        <a:rPr lang="en-US" dirty="0"/>
                        <a:t>SVM, Naïve Bayes, KNN, Decision Tree, Random Forest </a:t>
                      </a:r>
                    </a:p>
                  </a:txBody>
                  <a:tcPr/>
                </a:tc>
                <a:tc>
                  <a:txBody>
                    <a:bodyPr/>
                    <a:lstStyle/>
                    <a:p>
                      <a:r>
                        <a:rPr lang="en-US" dirty="0"/>
                        <a:t>Hybrid algorithm approach for chronic disease prediction using structured data</a:t>
                      </a:r>
                    </a:p>
                  </a:txBody>
                  <a:tcPr/>
                </a:tc>
                <a:tc>
                  <a:txBody>
                    <a:bodyPr/>
                    <a:lstStyle/>
                    <a:p>
                      <a:r>
                        <a:rPr lang="en-US" dirty="0"/>
                        <a:t>Accuracy: RF – 98.95%, SVM – 96.49%, NB – 89.4%</a:t>
                      </a:r>
                    </a:p>
                  </a:txBody>
                  <a:tcPr/>
                </a:tc>
                <a:tc>
                  <a:txBody>
                    <a:bodyPr/>
                    <a:lstStyle/>
                    <a:p>
                      <a:r>
                        <a:rPr lang="en-US" dirty="0"/>
                        <a:t>Limited scope to specific chronic conditions; structured data only</a:t>
                      </a:r>
                    </a:p>
                  </a:txBody>
                  <a:tcPr/>
                </a:tc>
                <a:tc>
                  <a:txBody>
                    <a:bodyPr/>
                    <a:lstStyle/>
                    <a:p>
                      <a:r>
                        <a:rPr lang="en-US" dirty="0"/>
                        <a:t> Web-based system; predictive backend with multiple ML classifiers</a:t>
                      </a:r>
                    </a:p>
                  </a:txBody>
                  <a:tcPr/>
                </a:tc>
                <a:extLst>
                  <a:ext uri="{0D108BD9-81ED-4DB2-BD59-A6C34878D82A}">
                    <a16:rowId xmlns:a16="http://schemas.microsoft.com/office/drawing/2014/main" val="10002"/>
                  </a:ext>
                </a:extLst>
              </a:tr>
            </a:tbl>
          </a:graphicData>
        </a:graphic>
      </p:graphicFrame>
      <p:sp>
        <p:nvSpPr>
          <p:cNvPr id="2" name="Rectangle 1">
            <a:extLst>
              <a:ext uri="{FF2B5EF4-FFF2-40B4-BE49-F238E27FC236}">
                <a16:creationId xmlns:a16="http://schemas.microsoft.com/office/drawing/2014/main" id="{1F686C40-B630-FBE8-B485-CD36D6CD9577}"/>
              </a:ext>
            </a:extLst>
          </p:cNvPr>
          <p:cNvSpPr/>
          <p:nvPr/>
        </p:nvSpPr>
        <p:spPr>
          <a:xfrm>
            <a:off x="3352800" y="6211669"/>
            <a:ext cx="5334000"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Department of Computer Science and Engineering</a:t>
            </a:r>
            <a:endParaRPr lang="en-US" b="1" dirty="0">
              <a:latin typeface="Times New Roman" panose="02020603050405020304" pitchFamily="18" charset="0"/>
              <a:cs typeface="Times New Roman" panose="02020603050405020304" pitchFamily="18" charset="0"/>
            </a:endParaRPr>
          </a:p>
        </p:txBody>
      </p:sp>
      <p:pic>
        <p:nvPicPr>
          <p:cNvPr id="3" name="object 4">
            <a:extLst>
              <a:ext uri="{FF2B5EF4-FFF2-40B4-BE49-F238E27FC236}">
                <a16:creationId xmlns:a16="http://schemas.microsoft.com/office/drawing/2014/main" id="{1A5E8848-F12D-490C-3F65-5BE96FBAF277}"/>
              </a:ext>
            </a:extLst>
          </p:cNvPr>
          <p:cNvPicPr/>
          <p:nvPr/>
        </p:nvPicPr>
        <p:blipFill>
          <a:blip r:embed="rId2" cstate="print"/>
          <a:stretch>
            <a:fillRect/>
          </a:stretch>
        </p:blipFill>
        <p:spPr>
          <a:xfrm>
            <a:off x="7391400" y="-10069"/>
            <a:ext cx="1181099" cy="1153069"/>
          </a:xfrm>
          <a:prstGeom prst="rect">
            <a:avLst/>
          </a:prstGeom>
        </p:spPr>
      </p:pic>
    </p:spTree>
    <p:extLst>
      <p:ext uri="{BB962C8B-B14F-4D97-AF65-F5344CB8AC3E}">
        <p14:creationId xmlns:p14="http://schemas.microsoft.com/office/powerpoint/2010/main" val="1821646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p:cNvGraphicFramePr>
            <a:graphicFrameLocks noGrp="1"/>
          </p:cNvGraphicFramePr>
          <p:nvPr>
            <p:ph idx="1"/>
            <p:extLst>
              <p:ext uri="{D42A27DB-BD31-4B8C-83A1-F6EECF244321}">
                <p14:modId xmlns:p14="http://schemas.microsoft.com/office/powerpoint/2010/main" val="4117963372"/>
              </p:ext>
            </p:extLst>
          </p:nvPr>
        </p:nvGraphicFramePr>
        <p:xfrm>
          <a:off x="0" y="1371600"/>
          <a:ext cx="8436979" cy="4844551"/>
        </p:xfrm>
        <a:graphic>
          <a:graphicData uri="http://schemas.openxmlformats.org/drawingml/2006/table">
            <a:tbl>
              <a:tblPr firstRow="1" bandRow="1">
                <a:tableStyleId>{5C22544A-7EE6-4342-B048-85BDC9FD1C3A}</a:tableStyleId>
              </a:tblPr>
              <a:tblGrid>
                <a:gridCol w="479002">
                  <a:extLst>
                    <a:ext uri="{9D8B030D-6E8A-4147-A177-3AD203B41FA5}">
                      <a16:colId xmlns:a16="http://schemas.microsoft.com/office/drawing/2014/main" val="20000"/>
                    </a:ext>
                  </a:extLst>
                </a:gridCol>
                <a:gridCol w="1490885">
                  <a:extLst>
                    <a:ext uri="{9D8B030D-6E8A-4147-A177-3AD203B41FA5}">
                      <a16:colId xmlns:a16="http://schemas.microsoft.com/office/drawing/2014/main" val="20001"/>
                    </a:ext>
                  </a:extLst>
                </a:gridCol>
                <a:gridCol w="1235285">
                  <a:extLst>
                    <a:ext uri="{9D8B030D-6E8A-4147-A177-3AD203B41FA5}">
                      <a16:colId xmlns:a16="http://schemas.microsoft.com/office/drawing/2014/main" val="20002"/>
                    </a:ext>
                  </a:extLst>
                </a:gridCol>
                <a:gridCol w="1453280">
                  <a:extLst>
                    <a:ext uri="{9D8B030D-6E8A-4147-A177-3AD203B41FA5}">
                      <a16:colId xmlns:a16="http://schemas.microsoft.com/office/drawing/2014/main" val="20003"/>
                    </a:ext>
                  </a:extLst>
                </a:gridCol>
                <a:gridCol w="1380616">
                  <a:extLst>
                    <a:ext uri="{9D8B030D-6E8A-4147-A177-3AD203B41FA5}">
                      <a16:colId xmlns:a16="http://schemas.microsoft.com/office/drawing/2014/main" val="20004"/>
                    </a:ext>
                  </a:extLst>
                </a:gridCol>
                <a:gridCol w="1089960">
                  <a:extLst>
                    <a:ext uri="{9D8B030D-6E8A-4147-A177-3AD203B41FA5}">
                      <a16:colId xmlns:a16="http://schemas.microsoft.com/office/drawing/2014/main" val="20005"/>
                    </a:ext>
                  </a:extLst>
                </a:gridCol>
                <a:gridCol w="1307951">
                  <a:extLst>
                    <a:ext uri="{9D8B030D-6E8A-4147-A177-3AD203B41FA5}">
                      <a16:colId xmlns:a16="http://schemas.microsoft.com/office/drawing/2014/main" val="20006"/>
                    </a:ext>
                  </a:extLst>
                </a:gridCol>
              </a:tblGrid>
              <a:tr h="10307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SNO</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Title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Techniques</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Methodology</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Performance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Research</a:t>
                      </a:r>
                      <a:r>
                        <a:rPr lang="en-US" baseline="0" dirty="0"/>
                        <a:t>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Gaps</a:t>
                      </a:r>
                      <a:endParaRPr lang="en-US" dirty="0"/>
                    </a:p>
                    <a:p>
                      <a:endParaRPr lang="en-US" dirty="0"/>
                    </a:p>
                  </a:txBody>
                  <a:tcPr/>
                </a:tc>
                <a:tc>
                  <a:txBody>
                    <a:bodyPr/>
                    <a:lstStyle/>
                    <a:p>
                      <a:r>
                        <a:rPr lang="en-US" dirty="0"/>
                        <a:t>System </a:t>
                      </a:r>
                    </a:p>
                    <a:p>
                      <a:r>
                        <a:rPr lang="en-US" dirty="0"/>
                        <a:t>Architecture</a:t>
                      </a:r>
                    </a:p>
                  </a:txBody>
                  <a:tcPr/>
                </a:tc>
                <a:extLst>
                  <a:ext uri="{0D108BD9-81ED-4DB2-BD59-A6C34878D82A}">
                    <a16:rowId xmlns:a16="http://schemas.microsoft.com/office/drawing/2014/main" val="10000"/>
                  </a:ext>
                </a:extLst>
              </a:tr>
              <a:tr h="3813795">
                <a:tc>
                  <a:txBody>
                    <a:bodyPr/>
                    <a:lstStyle/>
                    <a:p>
                      <a:r>
                        <a:rPr lang="en-US" dirty="0"/>
                        <a:t>3</a:t>
                      </a:r>
                    </a:p>
                  </a:txBody>
                  <a:tcPr/>
                </a:tc>
                <a:tc>
                  <a:txBody>
                    <a:bodyPr/>
                    <a:lstStyle/>
                    <a:p>
                      <a:r>
                        <a:rPr lang="en-US" i="1" dirty="0"/>
                        <a:t>Disease Prediction using ML</a:t>
                      </a:r>
                      <a:r>
                        <a:rPr lang="en-US" dirty="0"/>
                        <a:t> </a:t>
                      </a:r>
                      <a:br>
                        <a:rPr lang="en-US" dirty="0"/>
                      </a:br>
                      <a:r>
                        <a:rPr lang="en-US" dirty="0"/>
                        <a:t>(Pramod Reddy et al., 2021)</a:t>
                      </a:r>
                    </a:p>
                  </a:txBody>
                  <a:tcPr/>
                </a:tc>
                <a:tc>
                  <a:txBody>
                    <a:bodyPr/>
                    <a:lstStyle/>
                    <a:p>
                      <a:r>
                        <a:rPr lang="en-US" dirty="0"/>
                        <a:t> </a:t>
                      </a:r>
                      <a:r>
                        <a:rPr lang="en-IN" dirty="0"/>
                        <a:t>Random Forest</a:t>
                      </a:r>
                      <a:endParaRPr lang="en-US" dirty="0"/>
                    </a:p>
                  </a:txBody>
                  <a:tcPr/>
                </a:tc>
                <a:tc>
                  <a:txBody>
                    <a:bodyPr/>
                    <a:lstStyle/>
                    <a:p>
                      <a:r>
                        <a:rPr lang="en-US" dirty="0"/>
                        <a:t> Chronic disease prediction using structured/unstructured data; Flask-based model deployment</a:t>
                      </a:r>
                    </a:p>
                  </a:txBody>
                  <a:tcPr/>
                </a:tc>
                <a:tc>
                  <a:txBody>
                    <a:bodyPr/>
                    <a:lstStyle/>
                    <a:p>
                      <a:r>
                        <a:rPr lang="en-US" dirty="0"/>
                        <a:t> Diabetes: 98.25%, Kidney: 99%, Heart: 85.25%, Liver: 78%</a:t>
                      </a:r>
                    </a:p>
                  </a:txBody>
                  <a:tcPr/>
                </a:tc>
                <a:tc>
                  <a:txBody>
                    <a:bodyPr/>
                    <a:lstStyle/>
                    <a:p>
                      <a:r>
                        <a:rPr lang="en-US" dirty="0"/>
                        <a:t>Lower performance for certain diseases (e.g., Liver); lacks multi-model comparison</a:t>
                      </a:r>
                    </a:p>
                  </a:txBody>
                  <a:tcPr/>
                </a:tc>
                <a:tc>
                  <a:txBody>
                    <a:bodyPr/>
                    <a:lstStyle/>
                    <a:p>
                      <a:r>
                        <a:rPr lang="en-US" dirty="0"/>
                        <a:t>Flask-based web app; ML backend with disease-specific random forest classifiers</a:t>
                      </a:r>
                    </a:p>
                  </a:txBody>
                  <a:tcPr/>
                </a:tc>
                <a:extLst>
                  <a:ext uri="{0D108BD9-81ED-4DB2-BD59-A6C34878D82A}">
                    <a16:rowId xmlns:a16="http://schemas.microsoft.com/office/drawing/2014/main" val="10001"/>
                  </a:ext>
                </a:extLst>
              </a:tr>
            </a:tbl>
          </a:graphicData>
        </a:graphic>
      </p:graphicFrame>
      <p:sp>
        <p:nvSpPr>
          <p:cNvPr id="3" name="Rectangle 2">
            <a:extLst>
              <a:ext uri="{FF2B5EF4-FFF2-40B4-BE49-F238E27FC236}">
                <a16:creationId xmlns:a16="http://schemas.microsoft.com/office/drawing/2014/main" id="{6EA43D1E-85DF-77E7-5872-78916EB3F31A}"/>
              </a:ext>
            </a:extLst>
          </p:cNvPr>
          <p:cNvSpPr/>
          <p:nvPr/>
        </p:nvSpPr>
        <p:spPr>
          <a:xfrm>
            <a:off x="3352800" y="6211669"/>
            <a:ext cx="5334000"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Department of Computer Science and Engineering</a:t>
            </a:r>
            <a:endParaRPr lang="en-US" b="1" dirty="0">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5B29B070-694F-3FA3-8980-390DCA5DDB9A}"/>
              </a:ext>
            </a:extLst>
          </p:cNvPr>
          <p:cNvPicPr/>
          <p:nvPr/>
        </p:nvPicPr>
        <p:blipFill>
          <a:blip r:embed="rId2" cstate="print"/>
          <a:stretch>
            <a:fillRect/>
          </a:stretch>
        </p:blipFill>
        <p:spPr>
          <a:xfrm>
            <a:off x="7391400" y="65314"/>
            <a:ext cx="1181099" cy="1153069"/>
          </a:xfrm>
          <a:prstGeom prst="rect">
            <a:avLst/>
          </a:prstGeom>
        </p:spPr>
      </p:pic>
    </p:spTree>
    <p:extLst>
      <p:ext uri="{BB962C8B-B14F-4D97-AF65-F5344CB8AC3E}">
        <p14:creationId xmlns:p14="http://schemas.microsoft.com/office/powerpoint/2010/main" val="2054045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10">
            <a:extLst>
              <a:ext uri="{FF2B5EF4-FFF2-40B4-BE49-F238E27FC236}">
                <a16:creationId xmlns:a16="http://schemas.microsoft.com/office/drawing/2014/main" id="{DB1F3CC5-72EE-70ED-3310-6D3047CD7DE0}"/>
              </a:ext>
            </a:extLst>
          </p:cNvPr>
          <p:cNvGraphicFramePr>
            <a:graphicFrameLocks noGrp="1"/>
          </p:cNvGraphicFramePr>
          <p:nvPr>
            <p:ph idx="1"/>
            <p:extLst>
              <p:ext uri="{D42A27DB-BD31-4B8C-83A1-F6EECF244321}">
                <p14:modId xmlns:p14="http://schemas.microsoft.com/office/powerpoint/2010/main" val="144901930"/>
              </p:ext>
            </p:extLst>
          </p:nvPr>
        </p:nvGraphicFramePr>
        <p:xfrm>
          <a:off x="-1" y="1470102"/>
          <a:ext cx="8458199" cy="4702098"/>
        </p:xfrm>
        <a:graphic>
          <a:graphicData uri="http://schemas.openxmlformats.org/drawingml/2006/table">
            <a:tbl>
              <a:tblPr firstRow="1" bandRow="1">
                <a:tableStyleId>{5C22544A-7EE6-4342-B048-85BDC9FD1C3A}</a:tableStyleId>
              </a:tblPr>
              <a:tblGrid>
                <a:gridCol w="484941">
                  <a:extLst>
                    <a:ext uri="{9D8B030D-6E8A-4147-A177-3AD203B41FA5}">
                      <a16:colId xmlns:a16="http://schemas.microsoft.com/office/drawing/2014/main" val="20000"/>
                    </a:ext>
                  </a:extLst>
                </a:gridCol>
                <a:gridCol w="1509371">
                  <a:extLst>
                    <a:ext uri="{9D8B030D-6E8A-4147-A177-3AD203B41FA5}">
                      <a16:colId xmlns:a16="http://schemas.microsoft.com/office/drawing/2014/main" val="20001"/>
                    </a:ext>
                  </a:extLst>
                </a:gridCol>
                <a:gridCol w="1250601">
                  <a:extLst>
                    <a:ext uri="{9D8B030D-6E8A-4147-A177-3AD203B41FA5}">
                      <a16:colId xmlns:a16="http://schemas.microsoft.com/office/drawing/2014/main" val="20002"/>
                    </a:ext>
                  </a:extLst>
                </a:gridCol>
                <a:gridCol w="1471299">
                  <a:extLst>
                    <a:ext uri="{9D8B030D-6E8A-4147-A177-3AD203B41FA5}">
                      <a16:colId xmlns:a16="http://schemas.microsoft.com/office/drawing/2014/main" val="20003"/>
                    </a:ext>
                  </a:extLst>
                </a:gridCol>
                <a:gridCol w="1397734">
                  <a:extLst>
                    <a:ext uri="{9D8B030D-6E8A-4147-A177-3AD203B41FA5}">
                      <a16:colId xmlns:a16="http://schemas.microsoft.com/office/drawing/2014/main" val="20004"/>
                    </a:ext>
                  </a:extLst>
                </a:gridCol>
                <a:gridCol w="1103474">
                  <a:extLst>
                    <a:ext uri="{9D8B030D-6E8A-4147-A177-3AD203B41FA5}">
                      <a16:colId xmlns:a16="http://schemas.microsoft.com/office/drawing/2014/main" val="20005"/>
                    </a:ext>
                  </a:extLst>
                </a:gridCol>
                <a:gridCol w="1240779">
                  <a:extLst>
                    <a:ext uri="{9D8B030D-6E8A-4147-A177-3AD203B41FA5}">
                      <a16:colId xmlns:a16="http://schemas.microsoft.com/office/drawing/2014/main" val="20006"/>
                    </a:ext>
                  </a:extLst>
                </a:gridCol>
              </a:tblGrid>
              <a:tr h="11468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SNO</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Title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Techniques</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Methodology</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Performance</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Research</a:t>
                      </a:r>
                      <a:r>
                        <a:rPr lang="en-US" baseline="0" dirty="0"/>
                        <a:t>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Gaps</a:t>
                      </a:r>
                      <a:endParaRPr lang="en-US" dirty="0"/>
                    </a:p>
                    <a:p>
                      <a:endParaRPr lang="en-US" dirty="0"/>
                    </a:p>
                  </a:txBody>
                  <a:tcPr/>
                </a:tc>
                <a:tc>
                  <a:txBody>
                    <a:bodyPr/>
                    <a:lstStyle/>
                    <a:p>
                      <a:r>
                        <a:rPr lang="en-US" dirty="0"/>
                        <a:t>System </a:t>
                      </a:r>
                    </a:p>
                    <a:p>
                      <a:r>
                        <a:rPr lang="en-US" dirty="0"/>
                        <a:t>Architecture</a:t>
                      </a:r>
                    </a:p>
                  </a:txBody>
                  <a:tcPr/>
                </a:tc>
                <a:extLst>
                  <a:ext uri="{0D108BD9-81ED-4DB2-BD59-A6C34878D82A}">
                    <a16:rowId xmlns:a16="http://schemas.microsoft.com/office/drawing/2014/main" val="10000"/>
                  </a:ext>
                </a:extLst>
              </a:tr>
              <a:tr h="3555245">
                <a:tc>
                  <a:txBody>
                    <a:bodyPr/>
                    <a:lstStyle/>
                    <a:p>
                      <a:r>
                        <a:rPr lang="en-US" dirty="0"/>
                        <a:t>4</a:t>
                      </a:r>
                    </a:p>
                  </a:txBody>
                  <a:tcPr/>
                </a:tc>
                <a:tc>
                  <a:txBody>
                    <a:bodyPr/>
                    <a:lstStyle/>
                    <a:p>
                      <a:r>
                        <a:rPr lang="en-IN" i="1" dirty="0"/>
                        <a:t>Disease Prediction Using ML Techniques</a:t>
                      </a:r>
                      <a:r>
                        <a:rPr lang="en-IN" dirty="0"/>
                        <a:t> </a:t>
                      </a:r>
                      <a:br>
                        <a:rPr lang="en-IN" dirty="0"/>
                      </a:br>
                      <a:r>
                        <a:rPr lang="en-IN" dirty="0"/>
                        <a:t>(Vamsi Krishna et al., 2024)</a:t>
                      </a:r>
                      <a:endParaRPr lang="en-US" dirty="0"/>
                    </a:p>
                  </a:txBody>
                  <a:tcPr/>
                </a:tc>
                <a:tc>
                  <a:txBody>
                    <a:bodyPr/>
                    <a:lstStyle/>
                    <a:p>
                      <a:r>
                        <a:rPr lang="en-IN" dirty="0"/>
                        <a:t>Random Forest</a:t>
                      </a:r>
                      <a:endParaRPr lang="en-US" dirty="0"/>
                    </a:p>
                  </a:txBody>
                  <a:tcPr/>
                </a:tc>
                <a:tc>
                  <a:txBody>
                    <a:bodyPr/>
                    <a:lstStyle/>
                    <a:p>
                      <a:r>
                        <a:rPr lang="en-US" dirty="0"/>
                        <a:t>Predicts chronic diseases using structured hospital data and symptom-based models</a:t>
                      </a:r>
                    </a:p>
                  </a:txBody>
                  <a:tcPr/>
                </a:tc>
                <a:tc>
                  <a:txBody>
                    <a:bodyPr/>
                    <a:lstStyle/>
                    <a:p>
                      <a:r>
                        <a:rPr lang="en-US" dirty="0"/>
                        <a:t>High accuracy reported for 5+ major diseases</a:t>
                      </a:r>
                    </a:p>
                  </a:txBody>
                  <a:tcPr/>
                </a:tc>
                <a:tc>
                  <a:txBody>
                    <a:bodyPr/>
                    <a:lstStyle/>
                    <a:p>
                      <a:r>
                        <a:rPr lang="en-US" dirty="0"/>
                        <a:t>Model not tested for scalability across diverse diseases</a:t>
                      </a:r>
                    </a:p>
                  </a:txBody>
                  <a:tcPr/>
                </a:tc>
                <a:tc>
                  <a:txBody>
                    <a:bodyPr/>
                    <a:lstStyle/>
                    <a:p>
                      <a:r>
                        <a:rPr lang="en-US" dirty="0"/>
                        <a:t>Python-based system; backend built using </a:t>
                      </a:r>
                      <a:r>
                        <a:rPr lang="en-US" dirty="0" err="1"/>
                        <a:t>VScode</a:t>
                      </a:r>
                      <a:r>
                        <a:rPr lang="en-US" dirty="0"/>
                        <a:t> with Random Forest classifier</a:t>
                      </a:r>
                    </a:p>
                  </a:txBody>
                  <a:tcPr/>
                </a:tc>
                <a:extLst>
                  <a:ext uri="{0D108BD9-81ED-4DB2-BD59-A6C34878D82A}">
                    <a16:rowId xmlns:a16="http://schemas.microsoft.com/office/drawing/2014/main" val="10002"/>
                  </a:ext>
                </a:extLst>
              </a:tr>
            </a:tbl>
          </a:graphicData>
        </a:graphic>
      </p:graphicFrame>
      <p:pic>
        <p:nvPicPr>
          <p:cNvPr id="13" name="object 4">
            <a:extLst>
              <a:ext uri="{FF2B5EF4-FFF2-40B4-BE49-F238E27FC236}">
                <a16:creationId xmlns:a16="http://schemas.microsoft.com/office/drawing/2014/main" id="{C221049D-6BE9-E363-4ACE-F54380EF2538}"/>
              </a:ext>
            </a:extLst>
          </p:cNvPr>
          <p:cNvPicPr/>
          <p:nvPr/>
        </p:nvPicPr>
        <p:blipFill>
          <a:blip r:embed="rId2" cstate="print"/>
          <a:stretch>
            <a:fillRect/>
          </a:stretch>
        </p:blipFill>
        <p:spPr>
          <a:xfrm>
            <a:off x="7239000" y="66975"/>
            <a:ext cx="1333499" cy="1237649"/>
          </a:xfrm>
          <a:prstGeom prst="rect">
            <a:avLst/>
          </a:prstGeom>
        </p:spPr>
      </p:pic>
      <p:sp>
        <p:nvSpPr>
          <p:cNvPr id="3" name="Rectangle 2">
            <a:extLst>
              <a:ext uri="{FF2B5EF4-FFF2-40B4-BE49-F238E27FC236}">
                <a16:creationId xmlns:a16="http://schemas.microsoft.com/office/drawing/2014/main" id="{0B3BEB22-06B9-2DCB-1586-A237278D5C8A}"/>
              </a:ext>
            </a:extLst>
          </p:cNvPr>
          <p:cNvSpPr/>
          <p:nvPr/>
        </p:nvSpPr>
        <p:spPr>
          <a:xfrm>
            <a:off x="3352800" y="6211669"/>
            <a:ext cx="5334000"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Department of Computer Science and Engineering</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3255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a:extLst>
              <a:ext uri="{FF2B5EF4-FFF2-40B4-BE49-F238E27FC236}">
                <a16:creationId xmlns:a16="http://schemas.microsoft.com/office/drawing/2014/main" id="{7CB4E171-E8E5-A2C8-D697-B2C825ED9BDB}"/>
              </a:ext>
            </a:extLst>
          </p:cNvPr>
          <p:cNvGraphicFramePr>
            <a:graphicFrameLocks noGrp="1"/>
          </p:cNvGraphicFramePr>
          <p:nvPr>
            <p:ph idx="1"/>
            <p:extLst>
              <p:ext uri="{D42A27DB-BD31-4B8C-83A1-F6EECF244321}">
                <p14:modId xmlns:p14="http://schemas.microsoft.com/office/powerpoint/2010/main" val="2656210212"/>
              </p:ext>
            </p:extLst>
          </p:nvPr>
        </p:nvGraphicFramePr>
        <p:xfrm>
          <a:off x="2" y="1524000"/>
          <a:ext cx="8458198" cy="4648200"/>
        </p:xfrm>
        <a:graphic>
          <a:graphicData uri="http://schemas.openxmlformats.org/drawingml/2006/table">
            <a:tbl>
              <a:tblPr firstRow="1" bandRow="1">
                <a:tableStyleId>{5C22544A-7EE6-4342-B048-85BDC9FD1C3A}</a:tableStyleId>
              </a:tblPr>
              <a:tblGrid>
                <a:gridCol w="514847">
                  <a:extLst>
                    <a:ext uri="{9D8B030D-6E8A-4147-A177-3AD203B41FA5}">
                      <a16:colId xmlns:a16="http://schemas.microsoft.com/office/drawing/2014/main" val="20000"/>
                    </a:ext>
                  </a:extLst>
                </a:gridCol>
                <a:gridCol w="1397441">
                  <a:extLst>
                    <a:ext uri="{9D8B030D-6E8A-4147-A177-3AD203B41FA5}">
                      <a16:colId xmlns:a16="http://schemas.microsoft.com/office/drawing/2014/main" val="20001"/>
                    </a:ext>
                  </a:extLst>
                </a:gridCol>
                <a:gridCol w="1250343">
                  <a:extLst>
                    <a:ext uri="{9D8B030D-6E8A-4147-A177-3AD203B41FA5}">
                      <a16:colId xmlns:a16="http://schemas.microsoft.com/office/drawing/2014/main" val="20002"/>
                    </a:ext>
                  </a:extLst>
                </a:gridCol>
                <a:gridCol w="1470991">
                  <a:extLst>
                    <a:ext uri="{9D8B030D-6E8A-4147-A177-3AD203B41FA5}">
                      <a16:colId xmlns:a16="http://schemas.microsoft.com/office/drawing/2014/main" val="20003"/>
                    </a:ext>
                  </a:extLst>
                </a:gridCol>
                <a:gridCol w="1397441">
                  <a:extLst>
                    <a:ext uri="{9D8B030D-6E8A-4147-A177-3AD203B41FA5}">
                      <a16:colId xmlns:a16="http://schemas.microsoft.com/office/drawing/2014/main" val="20004"/>
                    </a:ext>
                  </a:extLst>
                </a:gridCol>
                <a:gridCol w="1029694">
                  <a:extLst>
                    <a:ext uri="{9D8B030D-6E8A-4147-A177-3AD203B41FA5}">
                      <a16:colId xmlns:a16="http://schemas.microsoft.com/office/drawing/2014/main" val="20005"/>
                    </a:ext>
                  </a:extLst>
                </a:gridCol>
                <a:gridCol w="1397441">
                  <a:extLst>
                    <a:ext uri="{9D8B030D-6E8A-4147-A177-3AD203B41FA5}">
                      <a16:colId xmlns:a16="http://schemas.microsoft.com/office/drawing/2014/main" val="20006"/>
                    </a:ext>
                  </a:extLst>
                </a:gridCol>
              </a:tblGrid>
              <a:tr h="102268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SNO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Title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Techniques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Methodology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Performance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Research</a:t>
                      </a:r>
                      <a:r>
                        <a:rPr lang="en-US" baseline="0" dirty="0"/>
                        <a:t>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Gaps</a:t>
                      </a:r>
                      <a:endParaRPr lang="en-US" dirty="0"/>
                    </a:p>
                  </a:txBody>
                  <a:tcPr/>
                </a:tc>
                <a:tc>
                  <a:txBody>
                    <a:bodyPr/>
                    <a:lstStyle/>
                    <a:p>
                      <a:r>
                        <a:rPr lang="en-US" dirty="0"/>
                        <a:t>System </a:t>
                      </a:r>
                    </a:p>
                    <a:p>
                      <a:r>
                        <a:rPr lang="en-US" dirty="0"/>
                        <a:t>Architecture</a:t>
                      </a:r>
                    </a:p>
                  </a:txBody>
                  <a:tcPr/>
                </a:tc>
                <a:extLst>
                  <a:ext uri="{0D108BD9-81ED-4DB2-BD59-A6C34878D82A}">
                    <a16:rowId xmlns:a16="http://schemas.microsoft.com/office/drawing/2014/main" val="10000"/>
                  </a:ext>
                </a:extLst>
              </a:tr>
              <a:tr h="3625516">
                <a:tc>
                  <a:txBody>
                    <a:bodyPr/>
                    <a:lstStyle/>
                    <a:p>
                      <a:r>
                        <a:rPr lang="en-US" dirty="0"/>
                        <a:t>5</a:t>
                      </a:r>
                    </a:p>
                  </a:txBody>
                  <a:tcPr/>
                </a:tc>
                <a:tc>
                  <a:txBody>
                    <a:bodyPr/>
                    <a:lstStyle/>
                    <a:p>
                      <a:r>
                        <a:rPr lang="en-US" i="1" dirty="0"/>
                        <a:t>Disease Prediction and Drug Recommendation Using ML</a:t>
                      </a:r>
                      <a:r>
                        <a:rPr lang="en-US" dirty="0"/>
                        <a:t> </a:t>
                      </a:r>
                      <a:br>
                        <a:rPr lang="en-US" dirty="0"/>
                      </a:br>
                      <a:r>
                        <a:rPr lang="en-US" dirty="0"/>
                        <a:t>(Authors Unknown, 2023)</a:t>
                      </a:r>
                    </a:p>
                  </a:txBody>
                  <a:tcPr/>
                </a:tc>
                <a:tc>
                  <a:txBody>
                    <a:bodyPr/>
                    <a:lstStyle/>
                    <a:p>
                      <a:r>
                        <a:rPr lang="en-IN" dirty="0"/>
                        <a:t>Random Forest, Decision Tree, Logistic Regression</a:t>
                      </a:r>
                      <a:endParaRPr lang="en-US" dirty="0"/>
                    </a:p>
                  </a:txBody>
                  <a:tcPr/>
                </a:tc>
                <a:tc>
                  <a:txBody>
                    <a:bodyPr/>
                    <a:lstStyle/>
                    <a:p>
                      <a:r>
                        <a:rPr lang="en-US" dirty="0"/>
                        <a:t> Integrates symptom-based disease detection with drug recommendation using ML</a:t>
                      </a:r>
                    </a:p>
                  </a:txBody>
                  <a:tcPr/>
                </a:tc>
                <a:tc>
                  <a:txBody>
                    <a:bodyPr/>
                    <a:lstStyle/>
                    <a:p>
                      <a:r>
                        <a:rPr lang="en-US" dirty="0"/>
                        <a:t> Claims high performance; details vary by use case</a:t>
                      </a:r>
                    </a:p>
                  </a:txBody>
                  <a:tcPr/>
                </a:tc>
                <a:tc>
                  <a:txBody>
                    <a:bodyPr/>
                    <a:lstStyle/>
                    <a:p>
                      <a:r>
                        <a:rPr lang="en-US" dirty="0"/>
                        <a:t>  Claims high performance; details vary by use case</a:t>
                      </a:r>
                    </a:p>
                  </a:txBody>
                  <a:tcPr/>
                </a:tc>
                <a:tc>
                  <a:txBody>
                    <a:bodyPr/>
                    <a:lstStyle/>
                    <a:p>
                      <a:r>
                        <a:rPr lang="en-US" dirty="0"/>
                        <a:t>Integrated web interface for prediction and drug suggestion</a:t>
                      </a:r>
                    </a:p>
                  </a:txBody>
                  <a:tcPr/>
                </a:tc>
                <a:extLst>
                  <a:ext uri="{0D108BD9-81ED-4DB2-BD59-A6C34878D82A}">
                    <a16:rowId xmlns:a16="http://schemas.microsoft.com/office/drawing/2014/main" val="10001"/>
                  </a:ext>
                </a:extLst>
              </a:tr>
            </a:tbl>
          </a:graphicData>
        </a:graphic>
      </p:graphicFrame>
      <p:pic>
        <p:nvPicPr>
          <p:cNvPr id="6" name="object 4">
            <a:extLst>
              <a:ext uri="{FF2B5EF4-FFF2-40B4-BE49-F238E27FC236}">
                <a16:creationId xmlns:a16="http://schemas.microsoft.com/office/drawing/2014/main" id="{35A1DB77-A85F-A433-DC16-A2BE3D19549E}"/>
              </a:ext>
            </a:extLst>
          </p:cNvPr>
          <p:cNvPicPr/>
          <p:nvPr/>
        </p:nvPicPr>
        <p:blipFill>
          <a:blip r:embed="rId2" cstate="print"/>
          <a:stretch>
            <a:fillRect/>
          </a:stretch>
        </p:blipFill>
        <p:spPr>
          <a:xfrm>
            <a:off x="7239000" y="224470"/>
            <a:ext cx="1333499" cy="1237649"/>
          </a:xfrm>
          <a:prstGeom prst="rect">
            <a:avLst/>
          </a:prstGeom>
        </p:spPr>
      </p:pic>
      <p:sp>
        <p:nvSpPr>
          <p:cNvPr id="2" name="Rectangle 1">
            <a:extLst>
              <a:ext uri="{FF2B5EF4-FFF2-40B4-BE49-F238E27FC236}">
                <a16:creationId xmlns:a16="http://schemas.microsoft.com/office/drawing/2014/main" id="{92541275-3216-E1B4-912B-DBCB1D969D93}"/>
              </a:ext>
            </a:extLst>
          </p:cNvPr>
          <p:cNvSpPr/>
          <p:nvPr/>
        </p:nvSpPr>
        <p:spPr>
          <a:xfrm>
            <a:off x="3352800" y="6211669"/>
            <a:ext cx="5334000"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Department of Computer Science and Engineering</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2639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spc="250" dirty="0">
                <a:latin typeface="Times New Roman" pitchFamily="18" charset="0"/>
                <a:cs typeface="Times New Roman" pitchFamily="18" charset="0"/>
              </a:rPr>
              <a:t>METHODOLOGY</a:t>
            </a:r>
            <a:endParaRPr lang="en-US" sz="2400" b="1" dirty="0">
              <a:latin typeface="Times New Roman" pitchFamily="18" charset="0"/>
              <a:cs typeface="Times New Roman" pitchFamily="18" charset="0"/>
            </a:endParaRPr>
          </a:p>
        </p:txBody>
      </p:sp>
      <p:sp>
        <p:nvSpPr>
          <p:cNvPr id="3" name="Content Placeholder 2"/>
          <p:cNvSpPr>
            <a:spLocks noGrp="1"/>
          </p:cNvSpPr>
          <p:nvPr>
            <p:ph idx="1"/>
          </p:nvPr>
        </p:nvSpPr>
        <p:spPr>
          <a:xfrm>
            <a:off x="304800" y="1295400"/>
            <a:ext cx="7620000" cy="4800600"/>
          </a:xfrm>
        </p:spPr>
        <p:txBody>
          <a:bodyPr>
            <a:noAutofit/>
          </a:bodyPr>
          <a:lstStyle/>
          <a:p>
            <a:pPr marL="285750" indent="-285750" algn="just">
              <a:spcBef>
                <a:spcPts val="1570"/>
              </a:spcBef>
              <a:buFont typeface="Wingdings" pitchFamily="2" charset="2"/>
              <a:buChar char="Ø"/>
            </a:pPr>
            <a:r>
              <a:rPr lang="en-US" sz="1800" b="1" u="sng" dirty="0">
                <a:solidFill>
                  <a:srgbClr val="1F2020"/>
                </a:solidFill>
                <a:latin typeface="Times New Roman" pitchFamily="18" charset="0"/>
                <a:cs typeface="Times New Roman" pitchFamily="18" charset="0"/>
              </a:rPr>
              <a:t>Symptom</a:t>
            </a:r>
            <a:r>
              <a:rPr lang="en-US" sz="1800" b="1" u="sng" spc="-95" dirty="0">
                <a:solidFill>
                  <a:srgbClr val="1F2020"/>
                </a:solidFill>
                <a:latin typeface="Times New Roman" pitchFamily="18" charset="0"/>
                <a:cs typeface="Times New Roman" pitchFamily="18" charset="0"/>
              </a:rPr>
              <a:t> </a:t>
            </a:r>
            <a:r>
              <a:rPr lang="en-US" sz="1800" b="1" u="sng" spc="-10" dirty="0">
                <a:solidFill>
                  <a:srgbClr val="1F2020"/>
                </a:solidFill>
                <a:latin typeface="Times New Roman" pitchFamily="18" charset="0"/>
                <a:cs typeface="Times New Roman" pitchFamily="18" charset="0"/>
              </a:rPr>
              <a:t>Input</a:t>
            </a:r>
            <a:r>
              <a:rPr lang="en-US" sz="1800" b="1" u="sng" dirty="0">
                <a:latin typeface="Times New Roman" pitchFamily="18" charset="0"/>
                <a:cs typeface="Times New Roman" pitchFamily="18" charset="0"/>
              </a:rPr>
              <a:t> </a:t>
            </a:r>
          </a:p>
          <a:p>
            <a:pPr marL="282575" indent="-282575" algn="just">
              <a:spcBef>
                <a:spcPts val="1570"/>
              </a:spcBef>
              <a:buNone/>
            </a:pPr>
            <a:r>
              <a:rPr lang="en-US" sz="1800" dirty="0">
                <a:solidFill>
                  <a:srgbClr val="1F2020"/>
                </a:solidFill>
                <a:latin typeface="Times New Roman" pitchFamily="18" charset="0"/>
                <a:cs typeface="Times New Roman" pitchFamily="18" charset="0"/>
              </a:rPr>
              <a:t>     User</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selects</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symptoms</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from</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a:t>
            </a:r>
            <a:r>
              <a:rPr lang="en-US" sz="1800" spc="-10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predefined</a:t>
            </a:r>
            <a:r>
              <a:rPr lang="en-US" sz="1800" spc="-10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list</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of</a:t>
            </a:r>
            <a:r>
              <a:rPr lang="en-US" sz="1800" spc="-100" dirty="0">
                <a:solidFill>
                  <a:srgbClr val="1F2020"/>
                </a:solidFill>
                <a:latin typeface="Times New Roman" pitchFamily="18" charset="0"/>
                <a:cs typeface="Times New Roman" pitchFamily="18" charset="0"/>
              </a:rPr>
              <a:t> </a:t>
            </a:r>
            <a:r>
              <a:rPr lang="en-US" sz="1800" spc="-55" dirty="0">
                <a:solidFill>
                  <a:srgbClr val="1F2020"/>
                </a:solidFill>
                <a:latin typeface="Times New Roman" pitchFamily="18" charset="0"/>
                <a:cs typeface="Times New Roman" pitchFamily="18" charset="0"/>
              </a:rPr>
              <a:t>95</a:t>
            </a:r>
            <a:r>
              <a:rPr lang="en-US" sz="1800" spc="-105" dirty="0">
                <a:solidFill>
                  <a:srgbClr val="1F2020"/>
                </a:solidFill>
                <a:latin typeface="Times New Roman" pitchFamily="18" charset="0"/>
                <a:cs typeface="Times New Roman" pitchFamily="18" charset="0"/>
              </a:rPr>
              <a:t> </a:t>
            </a:r>
            <a:r>
              <a:rPr lang="en-US" sz="1800" spc="-25" dirty="0">
                <a:solidFill>
                  <a:srgbClr val="1F2020"/>
                </a:solidFill>
                <a:latin typeface="Times New Roman" pitchFamily="18" charset="0"/>
                <a:cs typeface="Times New Roman" pitchFamily="18" charset="0"/>
              </a:rPr>
              <a:t>significant</a:t>
            </a:r>
            <a:r>
              <a:rPr lang="en-US" sz="1800" spc="-100"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symptoms,</a:t>
            </a:r>
            <a:r>
              <a:rPr lang="en-US" sz="1800" spc="-100" dirty="0">
                <a:solidFill>
                  <a:srgbClr val="1F2020"/>
                </a:solidFill>
                <a:latin typeface="Times New Roman" pitchFamily="18" charset="0"/>
                <a:cs typeface="Times New Roman" pitchFamily="18" charset="0"/>
              </a:rPr>
              <a:t> </a:t>
            </a:r>
            <a:r>
              <a:rPr lang="en-US" sz="1800" spc="-30" dirty="0">
                <a:solidFill>
                  <a:srgbClr val="1F2020"/>
                </a:solidFill>
                <a:latin typeface="Times New Roman" pitchFamily="18" charset="0"/>
                <a:cs typeface="Times New Roman" pitchFamily="18" charset="0"/>
              </a:rPr>
              <a:t>enabling</a:t>
            </a:r>
            <a:r>
              <a:rPr lang="en-US" sz="1800" spc="-10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structured</a:t>
            </a:r>
            <a:r>
              <a:rPr lang="en-US" sz="1800" spc="-10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data</a:t>
            </a:r>
            <a:r>
              <a:rPr lang="en-US" sz="1800" spc="-10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input</a:t>
            </a:r>
            <a:r>
              <a:rPr lang="en-US" sz="1800" spc="-10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for</a:t>
            </a:r>
            <a:r>
              <a:rPr lang="en-US" sz="1800" spc="-10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diagnosis.</a:t>
            </a:r>
          </a:p>
          <a:p>
            <a:pPr marL="285750" indent="-285750" algn="just">
              <a:spcBef>
                <a:spcPts val="1100"/>
              </a:spcBef>
              <a:buFont typeface="Wingdings" pitchFamily="2" charset="2"/>
              <a:buChar char="Ø"/>
            </a:pPr>
            <a:r>
              <a:rPr lang="en-US" sz="1800" b="1" u="sng" dirty="0">
                <a:solidFill>
                  <a:srgbClr val="1F2020"/>
                </a:solidFill>
                <a:latin typeface="Times New Roman" pitchFamily="18" charset="0"/>
                <a:cs typeface="Times New Roman" pitchFamily="18" charset="0"/>
              </a:rPr>
              <a:t>Data</a:t>
            </a:r>
            <a:r>
              <a:rPr lang="en-US" sz="1800" b="1" u="sng" spc="-130" dirty="0">
                <a:solidFill>
                  <a:srgbClr val="1F2020"/>
                </a:solidFill>
                <a:latin typeface="Times New Roman" pitchFamily="18" charset="0"/>
                <a:cs typeface="Times New Roman" pitchFamily="18" charset="0"/>
              </a:rPr>
              <a:t> </a:t>
            </a:r>
            <a:r>
              <a:rPr lang="en-US" sz="1800" b="1" u="sng" spc="-10" dirty="0">
                <a:solidFill>
                  <a:srgbClr val="1F2020"/>
                </a:solidFill>
                <a:latin typeface="Times New Roman" pitchFamily="18" charset="0"/>
                <a:cs typeface="Times New Roman" pitchFamily="18" charset="0"/>
              </a:rPr>
              <a:t>Preprocessing</a:t>
            </a:r>
            <a:endParaRPr lang="en-US" sz="1800" b="1" u="sng" dirty="0">
              <a:latin typeface="Times New Roman" pitchFamily="18" charset="0"/>
              <a:cs typeface="Times New Roman" pitchFamily="18" charset="0"/>
            </a:endParaRPr>
          </a:p>
          <a:p>
            <a:pPr marL="339725" indent="-339725" algn="just">
              <a:spcBef>
                <a:spcPts val="1100"/>
              </a:spcBef>
              <a:buNone/>
            </a:pPr>
            <a:r>
              <a:rPr lang="en-US" sz="1800" dirty="0">
                <a:solidFill>
                  <a:srgbClr val="1F2020"/>
                </a:solidFill>
                <a:latin typeface="Times New Roman" pitchFamily="18" charset="0"/>
                <a:cs typeface="Times New Roman" pitchFamily="18" charset="0"/>
              </a:rPr>
              <a:t>      Cleans</a:t>
            </a:r>
            <a:r>
              <a:rPr lang="en-US" sz="1800" spc="-12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refines</a:t>
            </a:r>
            <a:r>
              <a:rPr lang="en-US" sz="1800" spc="-114"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patient</a:t>
            </a:r>
            <a:r>
              <a:rPr lang="en-US" sz="1800" spc="-12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data</a:t>
            </a:r>
            <a:r>
              <a:rPr lang="en-US" sz="1800" spc="-120" dirty="0">
                <a:solidFill>
                  <a:srgbClr val="1F2020"/>
                </a:solidFill>
                <a:latin typeface="Times New Roman" pitchFamily="18" charset="0"/>
                <a:cs typeface="Times New Roman" pitchFamily="18" charset="0"/>
              </a:rPr>
              <a:t> </a:t>
            </a:r>
            <a:r>
              <a:rPr lang="en-US" sz="1800" spc="55" dirty="0">
                <a:solidFill>
                  <a:srgbClr val="1F2020"/>
                </a:solidFill>
                <a:latin typeface="Times New Roman" pitchFamily="18" charset="0"/>
                <a:cs typeface="Times New Roman" pitchFamily="18" charset="0"/>
              </a:rPr>
              <a:t>by</a:t>
            </a:r>
            <a:r>
              <a:rPr lang="en-US" sz="1800" spc="-125" dirty="0">
                <a:solidFill>
                  <a:srgbClr val="1F2020"/>
                </a:solidFill>
                <a:latin typeface="Times New Roman" pitchFamily="18" charset="0"/>
                <a:cs typeface="Times New Roman" pitchFamily="18" charset="0"/>
              </a:rPr>
              <a:t> </a:t>
            </a:r>
            <a:r>
              <a:rPr lang="en-US" sz="1800" spc="-35" dirty="0">
                <a:solidFill>
                  <a:srgbClr val="1F2020"/>
                </a:solidFill>
                <a:latin typeface="Times New Roman" pitchFamily="18" charset="0"/>
                <a:cs typeface="Times New Roman" pitchFamily="18" charset="0"/>
              </a:rPr>
              <a:t>handling</a:t>
            </a:r>
            <a:r>
              <a:rPr lang="en-US" sz="1800" spc="-120" dirty="0">
                <a:solidFill>
                  <a:srgbClr val="1F2020"/>
                </a:solidFill>
                <a:latin typeface="Times New Roman" pitchFamily="18" charset="0"/>
                <a:cs typeface="Times New Roman" pitchFamily="18" charset="0"/>
              </a:rPr>
              <a:t> </a:t>
            </a:r>
            <a:r>
              <a:rPr lang="en-US" sz="1800" spc="-65" dirty="0">
                <a:solidFill>
                  <a:srgbClr val="1F2020"/>
                </a:solidFill>
                <a:latin typeface="Times New Roman" pitchFamily="18" charset="0"/>
                <a:cs typeface="Times New Roman" pitchFamily="18" charset="0"/>
              </a:rPr>
              <a:t>missing</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values</a:t>
            </a:r>
            <a:r>
              <a:rPr lang="en-US" sz="1800" spc="-114"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125"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reducing</a:t>
            </a:r>
            <a:r>
              <a:rPr lang="en-US" sz="1800" spc="-125"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dimensionality</a:t>
            </a:r>
            <a:r>
              <a:rPr lang="en-US" sz="1800" spc="-12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from</a:t>
            </a:r>
            <a:r>
              <a:rPr lang="en-US" sz="1800" spc="-125" dirty="0">
                <a:solidFill>
                  <a:srgbClr val="1F2020"/>
                </a:solidFill>
                <a:latin typeface="Times New Roman" pitchFamily="18" charset="0"/>
                <a:cs typeface="Times New Roman" pitchFamily="18" charset="0"/>
              </a:rPr>
              <a:t> </a:t>
            </a:r>
            <a:r>
              <a:rPr lang="en-US" sz="1800" spc="-190" dirty="0">
                <a:solidFill>
                  <a:srgbClr val="1F2020"/>
                </a:solidFill>
                <a:latin typeface="Times New Roman" pitchFamily="18" charset="0"/>
                <a:cs typeface="Times New Roman" pitchFamily="18" charset="0"/>
              </a:rPr>
              <a:t>132</a:t>
            </a:r>
            <a:r>
              <a:rPr lang="en-US" sz="1800" spc="-12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to</a:t>
            </a:r>
            <a:r>
              <a:rPr lang="en-US" sz="1800" spc="-125" dirty="0">
                <a:solidFill>
                  <a:srgbClr val="1F2020"/>
                </a:solidFill>
                <a:latin typeface="Times New Roman" pitchFamily="18" charset="0"/>
                <a:cs typeface="Times New Roman" pitchFamily="18" charset="0"/>
              </a:rPr>
              <a:t> </a:t>
            </a:r>
            <a:r>
              <a:rPr lang="en-US" sz="1800" spc="-55" dirty="0">
                <a:solidFill>
                  <a:srgbClr val="1F2020"/>
                </a:solidFill>
                <a:latin typeface="Times New Roman" pitchFamily="18" charset="0"/>
                <a:cs typeface="Times New Roman" pitchFamily="18" charset="0"/>
              </a:rPr>
              <a:t>95</a:t>
            </a:r>
            <a:r>
              <a:rPr lang="en-US" sz="1800" spc="-12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symptoms.</a:t>
            </a:r>
          </a:p>
          <a:p>
            <a:pPr marL="285750" indent="-285750" algn="just">
              <a:spcBef>
                <a:spcPts val="1100"/>
              </a:spcBef>
              <a:buFont typeface="Wingdings" pitchFamily="2" charset="2"/>
              <a:buChar char="Ø"/>
            </a:pPr>
            <a:r>
              <a:rPr lang="en-US" sz="1800" b="1" u="sng" dirty="0">
                <a:solidFill>
                  <a:srgbClr val="1F2020"/>
                </a:solidFill>
                <a:latin typeface="Times New Roman" pitchFamily="18" charset="0"/>
                <a:cs typeface="Times New Roman" pitchFamily="18" charset="0"/>
              </a:rPr>
              <a:t>Model</a:t>
            </a:r>
            <a:r>
              <a:rPr lang="en-US" sz="1800" b="1" u="sng" spc="-114" dirty="0">
                <a:solidFill>
                  <a:srgbClr val="1F2020"/>
                </a:solidFill>
                <a:latin typeface="Times New Roman" pitchFamily="18" charset="0"/>
                <a:cs typeface="Times New Roman" pitchFamily="18" charset="0"/>
              </a:rPr>
              <a:t> </a:t>
            </a:r>
            <a:r>
              <a:rPr lang="en-US" sz="1800" b="1" u="sng" spc="-10" dirty="0">
                <a:solidFill>
                  <a:srgbClr val="1F2020"/>
                </a:solidFill>
                <a:latin typeface="Times New Roman" pitchFamily="18" charset="0"/>
                <a:cs typeface="Times New Roman" pitchFamily="18" charset="0"/>
              </a:rPr>
              <a:t>Training</a:t>
            </a:r>
          </a:p>
          <a:p>
            <a:pPr marL="282575" indent="-282575" algn="just">
              <a:spcBef>
                <a:spcPts val="1100"/>
              </a:spcBef>
              <a:buNone/>
            </a:pPr>
            <a:r>
              <a:rPr lang="en-US" sz="1800" dirty="0">
                <a:solidFill>
                  <a:srgbClr val="1F2020"/>
                </a:solidFill>
                <a:latin typeface="Times New Roman" pitchFamily="18" charset="0"/>
                <a:cs typeface="Times New Roman" pitchFamily="18" charset="0"/>
              </a:rPr>
              <a:t>     Trains</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three</a:t>
            </a:r>
            <a:r>
              <a:rPr lang="en-US" sz="1800" spc="135" dirty="0">
                <a:solidFill>
                  <a:srgbClr val="1F2020"/>
                </a:solidFill>
                <a:latin typeface="Times New Roman" pitchFamily="18" charset="0"/>
                <a:cs typeface="Times New Roman" pitchFamily="18" charset="0"/>
              </a:rPr>
              <a:t> </a:t>
            </a:r>
            <a:r>
              <a:rPr lang="en-US" sz="1800" spc="80" dirty="0">
                <a:solidFill>
                  <a:srgbClr val="1F2020"/>
                </a:solidFill>
                <a:latin typeface="Times New Roman" pitchFamily="18" charset="0"/>
                <a:cs typeface="Times New Roman" pitchFamily="18" charset="0"/>
              </a:rPr>
              <a:t>ML</a:t>
            </a:r>
            <a:r>
              <a:rPr lang="en-US" sz="1800" spc="135" dirty="0">
                <a:solidFill>
                  <a:srgbClr val="1F2020"/>
                </a:solidFill>
                <a:latin typeface="Times New Roman" pitchFamily="18" charset="0"/>
                <a:cs typeface="Times New Roman" pitchFamily="18" charset="0"/>
              </a:rPr>
              <a:t> </a:t>
            </a:r>
            <a:r>
              <a:rPr lang="en-US" sz="1800" spc="-80" dirty="0">
                <a:solidFill>
                  <a:srgbClr val="1F2020"/>
                </a:solidFill>
                <a:latin typeface="Times New Roman" pitchFamily="18" charset="0"/>
                <a:cs typeface="Times New Roman" pitchFamily="18" charset="0"/>
              </a:rPr>
              <a:t>models—</a:t>
            </a:r>
            <a:r>
              <a:rPr lang="en-US" sz="1800" dirty="0">
                <a:solidFill>
                  <a:srgbClr val="1F2020"/>
                </a:solidFill>
                <a:latin typeface="Times New Roman" pitchFamily="18" charset="0"/>
                <a:cs typeface="Times New Roman" pitchFamily="18" charset="0"/>
              </a:rPr>
              <a:t>Decision</a:t>
            </a:r>
            <a:r>
              <a:rPr lang="en-US" sz="1800" spc="1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Tree,</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Random</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Forest,</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and</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Naïve</a:t>
            </a:r>
            <a:r>
              <a:rPr lang="en-US" sz="1800" spc="135" dirty="0">
                <a:solidFill>
                  <a:srgbClr val="1F2020"/>
                </a:solidFill>
                <a:latin typeface="Times New Roman" pitchFamily="18" charset="0"/>
                <a:cs typeface="Times New Roman" pitchFamily="18" charset="0"/>
              </a:rPr>
              <a:t> </a:t>
            </a:r>
            <a:r>
              <a:rPr lang="en-US" sz="1800" spc="-30" dirty="0">
                <a:solidFill>
                  <a:srgbClr val="1F2020"/>
                </a:solidFill>
                <a:latin typeface="Times New Roman" pitchFamily="18" charset="0"/>
                <a:cs typeface="Times New Roman" pitchFamily="18" charset="0"/>
              </a:rPr>
              <a:t>Bayes—</a:t>
            </a:r>
            <a:r>
              <a:rPr lang="en-US" sz="1800" dirty="0">
                <a:solidFill>
                  <a:srgbClr val="1F2020"/>
                </a:solidFill>
                <a:latin typeface="Times New Roman" pitchFamily="18" charset="0"/>
                <a:cs typeface="Times New Roman" pitchFamily="18" charset="0"/>
              </a:rPr>
              <a:t>on</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a</a:t>
            </a:r>
            <a:r>
              <a:rPr lang="en-US" sz="1800" spc="1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dataset</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of</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4920</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patient</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records</a:t>
            </a:r>
            <a:r>
              <a:rPr lang="en-US" sz="1800" spc="13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to</a:t>
            </a:r>
            <a:r>
              <a:rPr lang="en-US" sz="1800" spc="135"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learn </a:t>
            </a:r>
            <a:r>
              <a:rPr lang="en-US" sz="1800" spc="-10" dirty="0">
                <a:solidFill>
                  <a:srgbClr val="1F2020"/>
                </a:solidFill>
                <a:latin typeface="Times New Roman" pitchFamily="18" charset="0"/>
                <a:cs typeface="Times New Roman" pitchFamily="18" charset="0"/>
              </a:rPr>
              <a:t>disease</a:t>
            </a:r>
            <a:r>
              <a:rPr lang="en-US" sz="1800" spc="-135"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patterns.</a:t>
            </a:r>
          </a:p>
          <a:p>
            <a:pPr marL="285750" indent="-285750" algn="just">
              <a:spcBef>
                <a:spcPts val="1100"/>
              </a:spcBef>
              <a:buFont typeface="Wingdings" pitchFamily="2" charset="2"/>
              <a:buChar char="Ø"/>
            </a:pPr>
            <a:r>
              <a:rPr lang="en-US" sz="1800" spc="-145" dirty="0">
                <a:solidFill>
                  <a:srgbClr val="1F2020"/>
                </a:solidFill>
                <a:latin typeface="Times New Roman" pitchFamily="18" charset="0"/>
                <a:cs typeface="Times New Roman" pitchFamily="18" charset="0"/>
              </a:rPr>
              <a:t> </a:t>
            </a:r>
            <a:r>
              <a:rPr lang="en-US" sz="1800" b="1" u="sng" spc="-10" dirty="0">
                <a:solidFill>
                  <a:srgbClr val="1F2020"/>
                </a:solidFill>
                <a:latin typeface="Times New Roman" pitchFamily="18" charset="0"/>
                <a:cs typeface="Times New Roman" pitchFamily="18" charset="0"/>
              </a:rPr>
              <a:t>Disease</a:t>
            </a:r>
            <a:r>
              <a:rPr lang="en-US" sz="1800" b="1" u="sng" spc="-155" dirty="0">
                <a:solidFill>
                  <a:srgbClr val="1F2020"/>
                </a:solidFill>
                <a:latin typeface="Times New Roman" pitchFamily="18" charset="0"/>
                <a:cs typeface="Times New Roman" pitchFamily="18" charset="0"/>
              </a:rPr>
              <a:t> </a:t>
            </a:r>
            <a:r>
              <a:rPr lang="en-US" sz="1800" b="1" u="sng" spc="-170" dirty="0">
                <a:solidFill>
                  <a:srgbClr val="1F2020"/>
                </a:solidFill>
                <a:latin typeface="Times New Roman" pitchFamily="18" charset="0"/>
                <a:cs typeface="Times New Roman" pitchFamily="18" charset="0"/>
              </a:rPr>
              <a:t>Predictions</a:t>
            </a:r>
          </a:p>
          <a:p>
            <a:pPr marL="339725" indent="-339725" algn="just">
              <a:spcBef>
                <a:spcPts val="1100"/>
              </a:spcBef>
              <a:buNone/>
            </a:pPr>
            <a:r>
              <a:rPr lang="en-US" sz="1800" dirty="0">
                <a:solidFill>
                  <a:srgbClr val="1F2020"/>
                </a:solidFill>
                <a:latin typeface="Times New Roman" pitchFamily="18" charset="0"/>
                <a:cs typeface="Times New Roman" pitchFamily="18" charset="0"/>
              </a:rPr>
              <a:t>      The</a:t>
            </a:r>
            <a:r>
              <a:rPr lang="en-US" sz="1800" spc="114"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system</a:t>
            </a:r>
            <a:r>
              <a:rPr lang="en-US" sz="1800" spc="1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uses</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trained</a:t>
            </a:r>
            <a:r>
              <a:rPr lang="en-US" sz="1800" spc="1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models</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to</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predict</a:t>
            </a:r>
            <a:r>
              <a:rPr lang="en-US" sz="1800" spc="1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the</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most</a:t>
            </a:r>
            <a:r>
              <a:rPr lang="en-US" sz="1800" spc="1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probable</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disease</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based</a:t>
            </a:r>
            <a:r>
              <a:rPr lang="en-US" sz="1800" spc="130"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on</a:t>
            </a:r>
            <a:r>
              <a:rPr lang="en-US" sz="1800" spc="125" dirty="0">
                <a:solidFill>
                  <a:srgbClr val="1F2020"/>
                </a:solidFill>
                <a:latin typeface="Times New Roman" pitchFamily="18" charset="0"/>
                <a:cs typeface="Times New Roman" pitchFamily="18" charset="0"/>
              </a:rPr>
              <a:t> </a:t>
            </a:r>
            <a:r>
              <a:rPr lang="en-US" sz="1800" spc="-105" dirty="0">
                <a:solidFill>
                  <a:srgbClr val="1F2020"/>
                </a:solidFill>
                <a:latin typeface="Times New Roman" pitchFamily="18" charset="0"/>
                <a:cs typeface="Times New Roman" pitchFamily="18" charset="0"/>
              </a:rPr>
              <a:t>user-</a:t>
            </a:r>
            <a:r>
              <a:rPr lang="en-US" sz="1800" dirty="0">
                <a:solidFill>
                  <a:srgbClr val="1F2020"/>
                </a:solidFill>
                <a:latin typeface="Times New Roman" pitchFamily="18" charset="0"/>
                <a:cs typeface="Times New Roman" pitchFamily="18" charset="0"/>
              </a:rPr>
              <a:t>input</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symptoms,</a:t>
            </a:r>
            <a:r>
              <a:rPr lang="en-US" sz="1800" spc="130" dirty="0">
                <a:solidFill>
                  <a:srgbClr val="1F2020"/>
                </a:solidFill>
                <a:latin typeface="Times New Roman" pitchFamily="18" charset="0"/>
                <a:cs typeface="Times New Roman" pitchFamily="18" charset="0"/>
              </a:rPr>
              <a:t> </a:t>
            </a:r>
            <a:r>
              <a:rPr lang="en-US" sz="1800" spc="-10" dirty="0">
                <a:solidFill>
                  <a:srgbClr val="1F2020"/>
                </a:solidFill>
                <a:latin typeface="Times New Roman" pitchFamily="18" charset="0"/>
                <a:cs typeface="Times New Roman" pitchFamily="18" charset="0"/>
              </a:rPr>
              <a:t>assisting</a:t>
            </a:r>
            <a:r>
              <a:rPr lang="en-US" sz="1800" spc="125" dirty="0">
                <a:solidFill>
                  <a:srgbClr val="1F2020"/>
                </a:solidFill>
                <a:latin typeface="Times New Roman" pitchFamily="18" charset="0"/>
                <a:cs typeface="Times New Roman" pitchFamily="18" charset="0"/>
              </a:rPr>
              <a:t> </a:t>
            </a:r>
            <a:r>
              <a:rPr lang="en-US" sz="1800" dirty="0">
                <a:solidFill>
                  <a:srgbClr val="1F2020"/>
                </a:solidFill>
                <a:latin typeface="Times New Roman" pitchFamily="18" charset="0"/>
                <a:cs typeface="Times New Roman" pitchFamily="18" charset="0"/>
              </a:rPr>
              <a:t>in</a:t>
            </a:r>
            <a:r>
              <a:rPr lang="en-US" sz="1800" spc="130" dirty="0">
                <a:solidFill>
                  <a:srgbClr val="1F2020"/>
                </a:solidFill>
                <a:latin typeface="Times New Roman" pitchFamily="18" charset="0"/>
                <a:cs typeface="Times New Roman" pitchFamily="18" charset="0"/>
              </a:rPr>
              <a:t> </a:t>
            </a:r>
            <a:r>
              <a:rPr lang="en-US" sz="1800" spc="-20" dirty="0">
                <a:solidFill>
                  <a:srgbClr val="1F2020"/>
                </a:solidFill>
                <a:latin typeface="Times New Roman" pitchFamily="18" charset="0"/>
                <a:cs typeface="Times New Roman" pitchFamily="18" charset="0"/>
              </a:rPr>
              <a:t>early </a:t>
            </a:r>
            <a:r>
              <a:rPr lang="en-US" sz="1800" spc="-10" dirty="0">
                <a:solidFill>
                  <a:srgbClr val="1F2020"/>
                </a:solidFill>
                <a:latin typeface="Times New Roman" pitchFamily="18" charset="0"/>
                <a:cs typeface="Times New Roman" pitchFamily="18" charset="0"/>
              </a:rPr>
              <a:t>diagnosis.</a:t>
            </a:r>
            <a:endParaRPr lang="en-US" sz="1800" dirty="0">
              <a:latin typeface="Times New Roman" pitchFamily="18" charset="0"/>
              <a:cs typeface="Times New Roman" pitchFamily="18" charset="0"/>
            </a:endParaRPr>
          </a:p>
          <a:p>
            <a:pPr marL="12700" algn="just">
              <a:spcBef>
                <a:spcPts val="1100"/>
              </a:spcBef>
            </a:pPr>
            <a:endParaRPr lang="en-US" sz="1800" dirty="0">
              <a:latin typeface="Times New Roman" pitchFamily="18" charset="0"/>
              <a:cs typeface="Times New Roman" pitchFamily="18" charset="0"/>
            </a:endParaRPr>
          </a:p>
          <a:p>
            <a:pPr marL="12700" algn="just">
              <a:spcBef>
                <a:spcPts val="1100"/>
              </a:spcBef>
            </a:pPr>
            <a:endParaRPr lang="en-US" sz="1800" spc="-20" dirty="0">
              <a:solidFill>
                <a:srgbClr val="1F2020"/>
              </a:solidFill>
              <a:latin typeface="Times New Roman" pitchFamily="18" charset="0"/>
              <a:cs typeface="Times New Roman" pitchFamily="18" charset="0"/>
            </a:endParaRPr>
          </a:p>
          <a:p>
            <a:pPr marL="12700" algn="just">
              <a:spcBef>
                <a:spcPts val="1100"/>
              </a:spcBef>
            </a:pPr>
            <a:endParaRPr lang="en-US" sz="1800" dirty="0">
              <a:latin typeface="Times New Roman" pitchFamily="18" charset="0"/>
              <a:cs typeface="Times New Roman" pitchFamily="18" charset="0"/>
            </a:endParaRPr>
          </a:p>
          <a:p>
            <a:pPr marL="12700" algn="just">
              <a:spcBef>
                <a:spcPts val="1100"/>
              </a:spcBef>
            </a:pPr>
            <a:endParaRPr lang="en-US" sz="1800" dirty="0">
              <a:latin typeface="Times New Roman" pitchFamily="18" charset="0"/>
              <a:cs typeface="Times New Roman" pitchFamily="18" charset="0"/>
            </a:endParaRPr>
          </a:p>
          <a:p>
            <a:pPr marL="12700" algn="just">
              <a:spcBef>
                <a:spcPts val="1570"/>
              </a:spcBef>
            </a:pPr>
            <a:endParaRPr lang="en-US" sz="1800" dirty="0">
              <a:latin typeface="Times New Roman" pitchFamily="18" charset="0"/>
              <a:cs typeface="Times New Roman" pitchFamily="18" charset="0"/>
            </a:endParaRPr>
          </a:p>
          <a:p>
            <a:pPr algn="just"/>
            <a:endParaRPr lang="en-US" sz="1800" dirty="0">
              <a:latin typeface="Times New Roman" pitchFamily="18" charset="0"/>
              <a:cs typeface="Times New Roman" pitchFamily="18" charset="0"/>
            </a:endParaRPr>
          </a:p>
        </p:txBody>
      </p:sp>
      <p:grpSp>
        <p:nvGrpSpPr>
          <p:cNvPr id="4" name="object 2"/>
          <p:cNvGrpSpPr/>
          <p:nvPr/>
        </p:nvGrpSpPr>
        <p:grpSpPr>
          <a:xfrm>
            <a:off x="6781800" y="-247049"/>
            <a:ext cx="1866900" cy="18669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sp>
        <p:nvSpPr>
          <p:cNvPr id="8" name="Rectangle 7"/>
          <p:cNvSpPr/>
          <p:nvPr/>
        </p:nvSpPr>
        <p:spPr>
          <a:xfrm>
            <a:off x="3352800" y="6216772"/>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256938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80" y="114900"/>
            <a:ext cx="4808020" cy="951900"/>
          </a:xfrm>
        </p:spPr>
        <p:txBody>
          <a:bodyPr/>
          <a:lstStyle/>
          <a:p>
            <a:r>
              <a:rPr lang="en-US" sz="2400" b="1" dirty="0">
                <a:latin typeface="Times New Roman" pitchFamily="18" charset="0"/>
                <a:cs typeface="Times New Roman" pitchFamily="18" charset="0"/>
              </a:rPr>
              <a:t>WORK  FLOW  DIAGRAM </a:t>
            </a:r>
          </a:p>
        </p:txBody>
      </p:sp>
      <p:grpSp>
        <p:nvGrpSpPr>
          <p:cNvPr id="4" name="object 2"/>
          <p:cNvGrpSpPr/>
          <p:nvPr/>
        </p:nvGrpSpPr>
        <p:grpSpPr>
          <a:xfrm>
            <a:off x="6781800" y="-247049"/>
            <a:ext cx="1866900" cy="18669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pic>
        <p:nvPicPr>
          <p:cNvPr id="1026"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905000" y="934047"/>
            <a:ext cx="4191000" cy="5161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3352800" y="6265410"/>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245463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46" y="13636"/>
            <a:ext cx="7620000" cy="1143000"/>
          </a:xfrm>
        </p:spPr>
        <p:txBody>
          <a:bodyPr/>
          <a:lstStyle/>
          <a:p>
            <a:r>
              <a:rPr lang="en-US" sz="2400" b="1" spc="105" dirty="0">
                <a:latin typeface="Times New Roman" pitchFamily="18" charset="0"/>
                <a:cs typeface="Times New Roman" pitchFamily="18" charset="0"/>
              </a:rPr>
              <a:t>SYSTEM</a:t>
            </a:r>
            <a:r>
              <a:rPr lang="en-US" sz="2400" b="1" spc="-15" dirty="0">
                <a:latin typeface="Times New Roman" pitchFamily="18" charset="0"/>
                <a:cs typeface="Times New Roman" pitchFamily="18" charset="0"/>
              </a:rPr>
              <a:t> </a:t>
            </a:r>
            <a:r>
              <a:rPr lang="en-US" sz="2400" b="1" spc="105" dirty="0">
                <a:latin typeface="Times New Roman" pitchFamily="18" charset="0"/>
                <a:cs typeface="Times New Roman" pitchFamily="18" charset="0"/>
              </a:rPr>
              <a:t>ARCHITECTURE</a:t>
            </a:r>
            <a:endParaRPr lang="en-US" sz="2400" b="1" dirty="0">
              <a:latin typeface="Times New Roman" pitchFamily="18" charset="0"/>
              <a:cs typeface="Times New Roman" pitchFamily="18" charset="0"/>
            </a:endParaRPr>
          </a:p>
        </p:txBody>
      </p:sp>
      <p:sp>
        <p:nvSpPr>
          <p:cNvPr id="9" name="Rectangle 8"/>
          <p:cNvSpPr/>
          <p:nvPr/>
        </p:nvSpPr>
        <p:spPr>
          <a:xfrm>
            <a:off x="3352800" y="6211669"/>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grpSp>
        <p:nvGrpSpPr>
          <p:cNvPr id="4" name="object 2"/>
          <p:cNvGrpSpPr/>
          <p:nvPr/>
        </p:nvGrpSpPr>
        <p:grpSpPr>
          <a:xfrm>
            <a:off x="7086600" y="-228600"/>
            <a:ext cx="1542738" cy="16764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pic>
        <p:nvPicPr>
          <p:cNvPr id="1027" name="Picture 3"/>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364574" y="1194592"/>
            <a:ext cx="7211461" cy="5017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7401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spc="275" dirty="0">
                <a:latin typeface="Times New Roman" pitchFamily="18" charset="0"/>
                <a:cs typeface="Times New Roman" pitchFamily="18" charset="0"/>
              </a:rPr>
              <a:t>DATA</a:t>
            </a:r>
            <a:r>
              <a:rPr lang="en-US" sz="2400" b="1" spc="-30" dirty="0">
                <a:latin typeface="Times New Roman" pitchFamily="18" charset="0"/>
                <a:cs typeface="Times New Roman" pitchFamily="18" charset="0"/>
              </a:rPr>
              <a:t> </a:t>
            </a:r>
            <a:r>
              <a:rPr lang="en-US" sz="2400" b="1" spc="100" dirty="0">
                <a:latin typeface="Times New Roman" pitchFamily="18" charset="0"/>
                <a:cs typeface="Times New Roman" pitchFamily="18" charset="0"/>
              </a:rPr>
              <a:t>SET</a:t>
            </a:r>
            <a:r>
              <a:rPr lang="en-US" sz="2400" b="1" spc="-30" dirty="0">
                <a:latin typeface="Times New Roman" pitchFamily="18" charset="0"/>
                <a:cs typeface="Times New Roman" pitchFamily="18" charset="0"/>
              </a:rPr>
              <a:t> </a:t>
            </a:r>
            <a:r>
              <a:rPr lang="en-US" sz="2400" b="1" spc="-260" dirty="0">
                <a:latin typeface="Times New Roman" pitchFamily="18" charset="0"/>
                <a:cs typeface="Times New Roman" pitchFamily="18" charset="0"/>
              </a:rPr>
              <a:t>&amp;</a:t>
            </a:r>
            <a:r>
              <a:rPr lang="en-US" sz="2400" b="1" spc="-30" dirty="0">
                <a:latin typeface="Times New Roman" pitchFamily="18" charset="0"/>
                <a:cs typeface="Times New Roman" pitchFamily="18" charset="0"/>
              </a:rPr>
              <a:t> </a:t>
            </a:r>
            <a:r>
              <a:rPr lang="en-US" sz="2400" b="1" spc="175" dirty="0">
                <a:latin typeface="Times New Roman" pitchFamily="18" charset="0"/>
                <a:cs typeface="Times New Roman" pitchFamily="18" charset="0"/>
              </a:rPr>
              <a:t>TOOLS</a:t>
            </a:r>
            <a:endParaRPr lang="en-US" sz="24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114300" indent="0">
              <a:buNone/>
            </a:pPr>
            <a:r>
              <a:rPr lang="en-US" sz="2400" b="1" dirty="0">
                <a:latin typeface="Times New Roman" pitchFamily="18" charset="0"/>
                <a:cs typeface="Times New Roman" pitchFamily="18" charset="0"/>
              </a:rPr>
              <a:t>DATASETS</a:t>
            </a:r>
            <a:r>
              <a:rPr lang="en-US" sz="2400" dirty="0">
                <a:latin typeface="Times New Roman" pitchFamily="18" charset="0"/>
                <a:cs typeface="Times New Roman" pitchFamily="18" charset="0"/>
              </a:rPr>
              <a:t>:</a:t>
            </a:r>
          </a:p>
          <a:p>
            <a:r>
              <a:rPr lang="en-US" sz="1800" dirty="0">
                <a:latin typeface="Times New Roman" pitchFamily="18" charset="0"/>
                <a:cs typeface="Times New Roman" pitchFamily="18" charset="0"/>
              </a:rPr>
              <a:t> 4920 patients records</a:t>
            </a:r>
          </a:p>
          <a:p>
            <a:r>
              <a:rPr lang="en-US" sz="1800" dirty="0">
                <a:latin typeface="Times New Roman" pitchFamily="18" charset="0"/>
                <a:cs typeface="Times New Roman" pitchFamily="18" charset="0"/>
              </a:rPr>
              <a:t>132 symptoms, predicting 41 diseases</a:t>
            </a:r>
          </a:p>
          <a:p>
            <a:r>
              <a:rPr lang="en-US" sz="1800" dirty="0">
                <a:latin typeface="Times New Roman" pitchFamily="18" charset="0"/>
                <a:cs typeface="Times New Roman" pitchFamily="18" charset="0"/>
              </a:rPr>
              <a:t>Selected 95 relevant symptoms after preprocessing</a:t>
            </a:r>
          </a:p>
          <a:p>
            <a:endParaRPr lang="en-US" sz="2400" dirty="0">
              <a:latin typeface="Times New Roman" pitchFamily="18" charset="0"/>
              <a:cs typeface="Times New Roman" pitchFamily="18" charset="0"/>
            </a:endParaRPr>
          </a:p>
          <a:p>
            <a:pPr marL="114300" indent="0">
              <a:buNone/>
            </a:pPr>
            <a:r>
              <a:rPr lang="en-US" sz="2400" b="1" dirty="0">
                <a:latin typeface="Times New Roman" pitchFamily="18" charset="0"/>
                <a:cs typeface="Times New Roman" pitchFamily="18" charset="0"/>
              </a:rPr>
              <a:t>TOOLS:</a:t>
            </a:r>
          </a:p>
          <a:p>
            <a:r>
              <a:rPr lang="en-US" sz="1800" dirty="0">
                <a:latin typeface="Times New Roman" pitchFamily="18" charset="0"/>
                <a:cs typeface="Times New Roman" pitchFamily="18" charset="0"/>
              </a:rPr>
              <a:t> Python( programming language)</a:t>
            </a:r>
          </a:p>
          <a:p>
            <a:r>
              <a:rPr lang="en-US" sz="1800" dirty="0">
                <a:latin typeface="Times New Roman" pitchFamily="18" charset="0"/>
                <a:cs typeface="Times New Roman" pitchFamily="18" charset="0"/>
              </a:rPr>
              <a:t> IDE: Python/Jupyter Notebook</a:t>
            </a:r>
          </a:p>
          <a:p>
            <a:endParaRPr lang="en-US" sz="1800" dirty="0">
              <a:latin typeface="Times New Roman" pitchFamily="18" charset="0"/>
              <a:cs typeface="Times New Roman" pitchFamily="18" charset="0"/>
            </a:endParaRPr>
          </a:p>
          <a:p>
            <a:pPr marL="114300" indent="0">
              <a:buNone/>
            </a:pPr>
            <a:r>
              <a:rPr lang="en-US" sz="2400" b="1" dirty="0">
                <a:latin typeface="Times New Roman" pitchFamily="18" charset="0"/>
                <a:cs typeface="Times New Roman" pitchFamily="18" charset="0"/>
              </a:rPr>
              <a:t>Libraries:</a:t>
            </a:r>
          </a:p>
          <a:p>
            <a:r>
              <a:rPr lang="en-US" sz="1800" dirty="0">
                <a:latin typeface="Times New Roman" pitchFamily="18" charset="0"/>
                <a:cs typeface="Times New Roman" pitchFamily="18" charset="0"/>
              </a:rPr>
              <a:t>Scikit-</a:t>
            </a:r>
            <a:r>
              <a:rPr lang="en-US" sz="1800" dirty="0" err="1">
                <a:latin typeface="Times New Roman" pitchFamily="18" charset="0"/>
                <a:cs typeface="Times New Roman" pitchFamily="18" charset="0"/>
              </a:rPr>
              <a:t>learn,Pandas</a:t>
            </a:r>
            <a:r>
              <a:rPr lang="en-US" sz="1800" dirty="0">
                <a:latin typeface="Times New Roman" pitchFamily="18" charset="0"/>
                <a:cs typeface="Times New Roman" pitchFamily="18" charset="0"/>
              </a:rPr>
              <a:t>, Numpy,Matplotlib</a:t>
            </a:r>
          </a:p>
          <a:p>
            <a:endParaRPr lang="en-US" sz="2400" dirty="0">
              <a:latin typeface="Times New Roman" pitchFamily="18" charset="0"/>
              <a:cs typeface="Times New Roman" pitchFamily="18" charset="0"/>
            </a:endParaRPr>
          </a:p>
        </p:txBody>
      </p:sp>
      <p:grpSp>
        <p:nvGrpSpPr>
          <p:cNvPr id="4" name="object 2"/>
          <p:cNvGrpSpPr/>
          <p:nvPr/>
        </p:nvGrpSpPr>
        <p:grpSpPr>
          <a:xfrm>
            <a:off x="6781800" y="-247049"/>
            <a:ext cx="1866900" cy="18669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sp>
        <p:nvSpPr>
          <p:cNvPr id="8" name="Rectangle 7"/>
          <p:cNvSpPr/>
          <p:nvPr/>
        </p:nvSpPr>
        <p:spPr>
          <a:xfrm>
            <a:off x="3352800" y="6211669"/>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2519186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latin typeface="Times New Roman" pitchFamily="18" charset="0"/>
                <a:cs typeface="Times New Roman" pitchFamily="18" charset="0"/>
              </a:rPr>
              <a:t>RESULTS</a:t>
            </a:r>
          </a:p>
        </p:txBody>
      </p:sp>
      <p:grpSp>
        <p:nvGrpSpPr>
          <p:cNvPr id="4" name="object 2"/>
          <p:cNvGrpSpPr/>
          <p:nvPr/>
        </p:nvGrpSpPr>
        <p:grpSpPr>
          <a:xfrm>
            <a:off x="6781800" y="-247049"/>
            <a:ext cx="1866900" cy="18669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pic>
        <p:nvPicPr>
          <p:cNvPr id="8" name="Picture 2" descr="C:\Users\veere\OneDrive\Desktop\R1.png"/>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457200" y="2143385"/>
            <a:ext cx="7620000" cy="371422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3352800" y="6211669"/>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2083372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latin typeface="Times New Roman" pitchFamily="18" charset="0"/>
                <a:cs typeface="Times New Roman" pitchFamily="18" charset="0"/>
              </a:rPr>
              <a:t>References</a:t>
            </a:r>
          </a:p>
        </p:txBody>
      </p:sp>
      <p:sp>
        <p:nvSpPr>
          <p:cNvPr id="3" name="Content Placeholder 2"/>
          <p:cNvSpPr>
            <a:spLocks noGrp="1"/>
          </p:cNvSpPr>
          <p:nvPr>
            <p:ph idx="1"/>
          </p:nvPr>
        </p:nvSpPr>
        <p:spPr/>
        <p:txBody>
          <a:bodyPr>
            <a:normAutofit fontScale="70000" lnSpcReduction="20000"/>
          </a:bodyPr>
          <a:lstStyle/>
          <a:p>
            <a:pPr marL="571500" lvl="0" algn="just">
              <a:lnSpc>
                <a:spcPct val="120000"/>
              </a:lnSpc>
              <a:buClr>
                <a:srgbClr val="3F3F3F"/>
              </a:buClr>
              <a:buAutoNum type="arabicPeriod"/>
            </a:pPr>
            <a:r>
              <a:rPr lang="en-US" sz="2300" dirty="0" err="1">
                <a:latin typeface="Times New Roman"/>
                <a:ea typeface="Times New Roman"/>
                <a:cs typeface="Times New Roman"/>
                <a:sym typeface="Times New Roman"/>
              </a:rPr>
              <a:t>Esteva</a:t>
            </a:r>
            <a:r>
              <a:rPr lang="en-US" sz="2300" dirty="0">
                <a:latin typeface="Times New Roman"/>
                <a:ea typeface="Times New Roman"/>
                <a:cs typeface="Times New Roman"/>
                <a:sym typeface="Times New Roman"/>
              </a:rPr>
              <a:t>, A., </a:t>
            </a:r>
            <a:r>
              <a:rPr lang="en-US" sz="2300" dirty="0" err="1">
                <a:latin typeface="Times New Roman"/>
                <a:ea typeface="Times New Roman"/>
                <a:cs typeface="Times New Roman"/>
                <a:sym typeface="Times New Roman"/>
              </a:rPr>
              <a:t>Kuprel</a:t>
            </a:r>
            <a:r>
              <a:rPr lang="en-US" sz="2300" dirty="0">
                <a:latin typeface="Times New Roman"/>
                <a:ea typeface="Times New Roman"/>
                <a:cs typeface="Times New Roman"/>
                <a:sym typeface="Times New Roman"/>
              </a:rPr>
              <a:t>, B., </a:t>
            </a:r>
            <a:r>
              <a:rPr lang="en-US" sz="2300" dirty="0" err="1">
                <a:latin typeface="Times New Roman"/>
                <a:ea typeface="Times New Roman"/>
                <a:cs typeface="Times New Roman"/>
                <a:sym typeface="Times New Roman"/>
              </a:rPr>
              <a:t>Novoa</a:t>
            </a:r>
            <a:r>
              <a:rPr lang="en-US" sz="2300" dirty="0">
                <a:latin typeface="Times New Roman"/>
                <a:ea typeface="Times New Roman"/>
                <a:cs typeface="Times New Roman"/>
                <a:sym typeface="Times New Roman"/>
              </a:rPr>
              <a:t>, R. A., </a:t>
            </a:r>
            <a:r>
              <a:rPr lang="en-US" sz="2300" dirty="0" err="1">
                <a:latin typeface="Times New Roman"/>
                <a:ea typeface="Times New Roman"/>
                <a:cs typeface="Times New Roman"/>
                <a:sym typeface="Times New Roman"/>
              </a:rPr>
              <a:t>Ko</a:t>
            </a:r>
            <a:r>
              <a:rPr lang="en-US" sz="2300" dirty="0">
                <a:latin typeface="Times New Roman"/>
                <a:ea typeface="Times New Roman"/>
                <a:cs typeface="Times New Roman"/>
                <a:sym typeface="Times New Roman"/>
              </a:rPr>
              <a:t>, J., </a:t>
            </a:r>
            <a:r>
              <a:rPr lang="en-US" sz="2300" dirty="0" err="1">
                <a:latin typeface="Times New Roman"/>
                <a:ea typeface="Times New Roman"/>
                <a:cs typeface="Times New Roman"/>
                <a:sym typeface="Times New Roman"/>
              </a:rPr>
              <a:t>Swetter</a:t>
            </a:r>
            <a:r>
              <a:rPr lang="en-US" sz="2300" dirty="0">
                <a:latin typeface="Times New Roman"/>
                <a:ea typeface="Times New Roman"/>
                <a:cs typeface="Times New Roman"/>
                <a:sym typeface="Times New Roman"/>
              </a:rPr>
              <a:t>, S. M., </a:t>
            </a:r>
            <a:r>
              <a:rPr lang="en-US" sz="2300" dirty="0" err="1">
                <a:latin typeface="Times New Roman"/>
                <a:ea typeface="Times New Roman"/>
                <a:cs typeface="Times New Roman"/>
                <a:sym typeface="Times New Roman"/>
              </a:rPr>
              <a:t>Blau</a:t>
            </a:r>
            <a:r>
              <a:rPr lang="en-US" sz="2300" dirty="0">
                <a:latin typeface="Times New Roman"/>
                <a:ea typeface="Times New Roman"/>
                <a:cs typeface="Times New Roman"/>
                <a:sym typeface="Times New Roman"/>
              </a:rPr>
              <a:t>, H. M., &amp; </a:t>
            </a:r>
            <a:r>
              <a:rPr lang="en-US" sz="2300" dirty="0" err="1">
                <a:latin typeface="Times New Roman"/>
                <a:ea typeface="Times New Roman"/>
                <a:cs typeface="Times New Roman"/>
                <a:sym typeface="Times New Roman"/>
              </a:rPr>
              <a:t>Thrun</a:t>
            </a:r>
            <a:r>
              <a:rPr lang="en-US" sz="2300" dirty="0">
                <a:latin typeface="Times New Roman"/>
                <a:ea typeface="Times New Roman"/>
                <a:cs typeface="Times New Roman"/>
                <a:sym typeface="Times New Roman"/>
              </a:rPr>
              <a:t>, S. (2017). Dermatologist-level classification of skin cancer with deep neural networks. Nature, 542(7639), 115-118.</a:t>
            </a:r>
          </a:p>
          <a:p>
            <a:pPr marL="574675" lvl="0" indent="-231775" algn="just">
              <a:lnSpc>
                <a:spcPct val="120000"/>
              </a:lnSpc>
              <a:buClr>
                <a:srgbClr val="3F3F3F"/>
              </a:buClr>
              <a:buNone/>
            </a:pPr>
            <a:r>
              <a:rPr lang="en-US" sz="2300" dirty="0">
                <a:latin typeface="Times New Roman"/>
                <a:ea typeface="Times New Roman"/>
                <a:cs typeface="Times New Roman"/>
                <a:sym typeface="Times New Roman"/>
              </a:rPr>
              <a:t>2. </a:t>
            </a:r>
            <a:r>
              <a:rPr lang="en-US" sz="2300" dirty="0" err="1">
                <a:latin typeface="Times New Roman"/>
                <a:ea typeface="Times New Roman"/>
                <a:cs typeface="Times New Roman"/>
                <a:sym typeface="Times New Roman"/>
              </a:rPr>
              <a:t>Rajkomar</a:t>
            </a:r>
            <a:r>
              <a:rPr lang="en-US" sz="2300" dirty="0">
                <a:latin typeface="Times New Roman"/>
                <a:ea typeface="Times New Roman"/>
                <a:cs typeface="Times New Roman"/>
                <a:sym typeface="Times New Roman"/>
              </a:rPr>
              <a:t>, A., Dean, J., &amp; </a:t>
            </a:r>
            <a:r>
              <a:rPr lang="en-US" sz="2300" dirty="0" err="1">
                <a:latin typeface="Times New Roman"/>
                <a:ea typeface="Times New Roman"/>
                <a:cs typeface="Times New Roman"/>
                <a:sym typeface="Times New Roman"/>
              </a:rPr>
              <a:t>Kohane</a:t>
            </a:r>
            <a:r>
              <a:rPr lang="en-US" sz="2300" dirty="0">
                <a:latin typeface="Times New Roman"/>
                <a:ea typeface="Times New Roman"/>
                <a:cs typeface="Times New Roman"/>
                <a:sym typeface="Times New Roman"/>
              </a:rPr>
              <a:t>, I. (2019). Machine learning in     medicine. New     England Journal of Medicine, 380(14), 1347-1358.</a:t>
            </a:r>
          </a:p>
          <a:p>
            <a:pPr marL="574675" lvl="0" indent="-460375" algn="just">
              <a:lnSpc>
                <a:spcPct val="120000"/>
              </a:lnSpc>
              <a:buClr>
                <a:srgbClr val="3F3F3F"/>
              </a:buClr>
              <a:buNone/>
            </a:pPr>
            <a:r>
              <a:rPr lang="en-US" sz="2300" dirty="0">
                <a:latin typeface="Times New Roman"/>
                <a:ea typeface="Times New Roman"/>
                <a:cs typeface="Times New Roman"/>
                <a:sym typeface="Times New Roman"/>
              </a:rPr>
              <a:t>    3. Choi, E., </a:t>
            </a:r>
            <a:r>
              <a:rPr lang="en-US" sz="2300" dirty="0" err="1">
                <a:latin typeface="Times New Roman"/>
                <a:ea typeface="Times New Roman"/>
                <a:cs typeface="Times New Roman"/>
                <a:sym typeface="Times New Roman"/>
              </a:rPr>
              <a:t>Schuetz</a:t>
            </a:r>
            <a:r>
              <a:rPr lang="en-US" sz="2300" dirty="0">
                <a:latin typeface="Times New Roman"/>
                <a:ea typeface="Times New Roman"/>
                <a:cs typeface="Times New Roman"/>
                <a:sym typeface="Times New Roman"/>
              </a:rPr>
              <a:t>, A., Stewart, W. F., &amp; Sun, J. (2016). Using recurrent neural networks for early detection of heart failure onset. Journal of the American Medical Informatics Association, 24(2), 361-370.</a:t>
            </a:r>
          </a:p>
          <a:p>
            <a:pPr marL="515938" lvl="0" indent="-401638" algn="just">
              <a:lnSpc>
                <a:spcPct val="120000"/>
              </a:lnSpc>
              <a:buClr>
                <a:srgbClr val="3F3F3F"/>
              </a:buClr>
              <a:buNone/>
            </a:pPr>
            <a:r>
              <a:rPr lang="en-US" sz="2300" dirty="0">
                <a:latin typeface="Times New Roman"/>
                <a:ea typeface="Times New Roman"/>
                <a:cs typeface="Times New Roman"/>
                <a:sym typeface="Times New Roman"/>
              </a:rPr>
              <a:t>    4. </a:t>
            </a:r>
            <a:r>
              <a:rPr lang="en-US" sz="2300" dirty="0" err="1">
                <a:latin typeface="Times New Roman"/>
                <a:ea typeface="Times New Roman"/>
                <a:cs typeface="Times New Roman"/>
                <a:sym typeface="Times New Roman"/>
              </a:rPr>
              <a:t>Miotto</a:t>
            </a:r>
            <a:r>
              <a:rPr lang="en-US" sz="2300" dirty="0">
                <a:latin typeface="Times New Roman"/>
                <a:ea typeface="Times New Roman"/>
                <a:cs typeface="Times New Roman"/>
                <a:sym typeface="Times New Roman"/>
              </a:rPr>
              <a:t>, R., Wang, F., Wang, S., Jiang, X., &amp; Dudley, J. T. (2017). Deep learning for healthcare: Review, opportunities and challenges. Briefings in Bioinformatics, 18(1), 123-136.</a:t>
            </a:r>
          </a:p>
          <a:p>
            <a:pPr marL="515938" lvl="0" indent="-401638" algn="just">
              <a:lnSpc>
                <a:spcPct val="120000"/>
              </a:lnSpc>
              <a:buClr>
                <a:srgbClr val="3F3F3F"/>
              </a:buClr>
              <a:buNone/>
            </a:pPr>
            <a:r>
              <a:rPr lang="en-US" sz="2300" dirty="0">
                <a:latin typeface="Times New Roman"/>
                <a:ea typeface="Times New Roman"/>
                <a:cs typeface="Times New Roman"/>
                <a:sym typeface="Times New Roman"/>
              </a:rPr>
              <a:t>    5. Obermeyer, Z., &amp; Emanuel, E. J. (2016). Predicting the future—big data, machine learning, and clinical medicine. New England Journal of Medicine, 375(13), 1216-1219.</a:t>
            </a:r>
          </a:p>
          <a:p>
            <a:pPr marL="515938" lvl="0" indent="-401638" algn="just">
              <a:lnSpc>
                <a:spcPct val="120000"/>
              </a:lnSpc>
              <a:buClr>
                <a:srgbClr val="3F3F3F"/>
              </a:buClr>
              <a:buNone/>
              <a:tabLst>
                <a:tab pos="574675" algn="l"/>
              </a:tabLst>
            </a:pPr>
            <a:r>
              <a:rPr lang="en-US" sz="2300" dirty="0">
                <a:latin typeface="Times New Roman"/>
                <a:ea typeface="Times New Roman"/>
                <a:cs typeface="Times New Roman"/>
                <a:sym typeface="Times New Roman"/>
              </a:rPr>
              <a:t>    6. Razzak, M. I., </a:t>
            </a:r>
            <a:r>
              <a:rPr lang="en-US" sz="2300" dirty="0" err="1">
                <a:latin typeface="Times New Roman"/>
                <a:ea typeface="Times New Roman"/>
                <a:cs typeface="Times New Roman"/>
                <a:sym typeface="Times New Roman"/>
              </a:rPr>
              <a:t>Naz</a:t>
            </a:r>
            <a:r>
              <a:rPr lang="en-US" sz="2300" dirty="0">
                <a:latin typeface="Times New Roman"/>
                <a:ea typeface="Times New Roman"/>
                <a:cs typeface="Times New Roman"/>
                <a:sym typeface="Times New Roman"/>
              </a:rPr>
              <a:t>, S., &amp; </a:t>
            </a:r>
            <a:r>
              <a:rPr lang="en-US" sz="2300" dirty="0" err="1">
                <a:latin typeface="Times New Roman"/>
                <a:ea typeface="Times New Roman"/>
                <a:cs typeface="Times New Roman"/>
                <a:sym typeface="Times New Roman"/>
              </a:rPr>
              <a:t>Zaib</a:t>
            </a:r>
            <a:r>
              <a:rPr lang="en-US" sz="2300" dirty="0">
                <a:latin typeface="Times New Roman"/>
                <a:ea typeface="Times New Roman"/>
                <a:cs typeface="Times New Roman"/>
                <a:sym typeface="Times New Roman"/>
              </a:rPr>
              <a:t>, A. (2018). Deep learning for medical image processing: Overview, challenges and the future. In Classification in </a:t>
            </a:r>
            <a:r>
              <a:rPr lang="en-US" sz="2300" dirty="0" err="1">
                <a:latin typeface="Times New Roman"/>
                <a:ea typeface="Times New Roman"/>
                <a:cs typeface="Times New Roman"/>
                <a:sym typeface="Times New Roman"/>
              </a:rPr>
              <a:t>BioApps</a:t>
            </a:r>
            <a:r>
              <a:rPr lang="en-US" sz="2300" dirty="0">
                <a:latin typeface="Times New Roman"/>
                <a:ea typeface="Times New Roman"/>
                <a:cs typeface="Times New Roman"/>
                <a:sym typeface="Times New Roman"/>
              </a:rPr>
              <a:t> (pp. 323-350). Springer.</a:t>
            </a:r>
          </a:p>
          <a:p>
            <a:pPr lvl="0" algn="just">
              <a:buClr>
                <a:srgbClr val="3F3F3F"/>
              </a:buClr>
              <a:buNone/>
            </a:pPr>
            <a:endParaRPr lang="en-US" sz="3200" dirty="0">
              <a:latin typeface="Times New Roman"/>
              <a:ea typeface="Times New Roman"/>
              <a:cs typeface="Times New Roman"/>
              <a:sym typeface="Times New Roman"/>
            </a:endParaRPr>
          </a:p>
          <a:p>
            <a:pPr algn="just"/>
            <a:endParaRPr lang="en-US" dirty="0"/>
          </a:p>
        </p:txBody>
      </p:sp>
      <p:grpSp>
        <p:nvGrpSpPr>
          <p:cNvPr id="4" name="object 2"/>
          <p:cNvGrpSpPr/>
          <p:nvPr/>
        </p:nvGrpSpPr>
        <p:grpSpPr>
          <a:xfrm>
            <a:off x="6781800" y="-247049"/>
            <a:ext cx="1866900" cy="18669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sp>
        <p:nvSpPr>
          <p:cNvPr id="8" name="Rectangle 7"/>
          <p:cNvSpPr/>
          <p:nvPr/>
        </p:nvSpPr>
        <p:spPr>
          <a:xfrm>
            <a:off x="3352800" y="6211669"/>
            <a:ext cx="5486401"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1152709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t>Conclusion</a:t>
            </a:r>
          </a:p>
        </p:txBody>
      </p:sp>
      <p:sp>
        <p:nvSpPr>
          <p:cNvPr id="3" name="Content Placeholder 2"/>
          <p:cNvSpPr>
            <a:spLocks noGrp="1"/>
          </p:cNvSpPr>
          <p:nvPr>
            <p:ph idx="1"/>
          </p:nvPr>
        </p:nvSpPr>
        <p:spPr/>
        <p:txBody>
          <a:bodyPr>
            <a:normAutofit/>
          </a:bodyPr>
          <a:lstStyle/>
          <a:p>
            <a:pPr marL="114300" indent="0" algn="just">
              <a:buNone/>
            </a:pPr>
            <a:r>
              <a:rPr lang="en-US" sz="1800" dirty="0">
                <a:latin typeface="Times New Roman" pitchFamily="18" charset="0"/>
                <a:cs typeface="Times New Roman" pitchFamily="18" charset="0"/>
              </a:rPr>
              <a:t>Disease prediction using machine learning offers significant promise for improving early diagnosis, patient outcomes, and healthcare efficiency. By analyzing large datasets, these algorithms can detect patterns beyond human capability. However, successful implementation requires careful attention to ethics, data privacy, and rigorous validation. Collaboration among healthcare professionals, data scientists, and policymakers is essential to realize the full potential of this technology while maintaining high standards of care and security.</a:t>
            </a:r>
          </a:p>
        </p:txBody>
      </p:sp>
      <p:grpSp>
        <p:nvGrpSpPr>
          <p:cNvPr id="4" name="object 2"/>
          <p:cNvGrpSpPr/>
          <p:nvPr/>
        </p:nvGrpSpPr>
        <p:grpSpPr>
          <a:xfrm>
            <a:off x="6781800" y="-247049"/>
            <a:ext cx="1866900" cy="1866900"/>
            <a:chOff x="197444" y="141115"/>
            <a:chExt cx="1866900" cy="1866900"/>
          </a:xfrm>
        </p:grpSpPr>
        <p:pic>
          <p:nvPicPr>
            <p:cNvPr id="5" name="object 3"/>
            <p:cNvPicPr/>
            <p:nvPr/>
          </p:nvPicPr>
          <p:blipFill>
            <a:blip r:embed="rId2" cstate="print"/>
            <a:stretch>
              <a:fillRect/>
            </a:stretch>
          </p:blipFill>
          <p:spPr>
            <a:xfrm>
              <a:off x="850478" y="600770"/>
              <a:ext cx="217308" cy="329824"/>
            </a:xfrm>
            <a:prstGeom prst="rect">
              <a:avLst/>
            </a:prstGeom>
          </p:spPr>
        </p:pic>
        <p:pic>
          <p:nvPicPr>
            <p:cNvPr id="6" name="object 4"/>
            <p:cNvPicPr/>
            <p:nvPr/>
          </p:nvPicPr>
          <p:blipFill>
            <a:blip r:embed="rId3" cstate="print"/>
            <a:stretch>
              <a:fillRect/>
            </a:stretch>
          </p:blipFill>
          <p:spPr>
            <a:xfrm>
              <a:off x="197444" y="141115"/>
              <a:ext cx="1866899" cy="1866899"/>
            </a:xfrm>
            <a:prstGeom prst="rect">
              <a:avLst/>
            </a:prstGeom>
          </p:spPr>
        </p:pic>
      </p:grpSp>
      <p:sp>
        <p:nvSpPr>
          <p:cNvPr id="8" name="Rectangle 7"/>
          <p:cNvSpPr/>
          <p:nvPr/>
        </p:nvSpPr>
        <p:spPr>
          <a:xfrm>
            <a:off x="3352800" y="6211669"/>
            <a:ext cx="5524499" cy="369332"/>
          </a:xfrm>
          <a:prstGeom prst="rect">
            <a:avLst/>
          </a:prstGeom>
        </p:spPr>
        <p:txBody>
          <a:bodyPr wrap="square">
            <a:spAutoFit/>
          </a:bodyPr>
          <a:lstStyle/>
          <a:p>
            <a:r>
              <a:rPr lang="en-IN" b="1" dirty="0">
                <a:latin typeface="Times New Roman" pitchFamily="18" charset="0"/>
                <a:cs typeface="Times New Roman" pitchFamily="18" charset="0"/>
              </a:rPr>
              <a:t>Department of Computer Science and Engineering</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3893960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494</TotalTime>
  <Words>1315</Words>
  <Application>Microsoft Office PowerPoint</Application>
  <PresentationFormat>On-screen Show (4:3)</PresentationFormat>
  <Paragraphs>158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Cambria</vt:lpstr>
      <vt:lpstr>Tahoma</vt:lpstr>
      <vt:lpstr>Times New Roman</vt:lpstr>
      <vt:lpstr>Wingdings</vt:lpstr>
      <vt:lpstr>Adjacency</vt:lpstr>
      <vt:lpstr>PowerPoint Presentation</vt:lpstr>
      <vt:lpstr>ABSTRACT</vt:lpstr>
      <vt:lpstr>INTRODUCTION</vt:lpstr>
      <vt:lpstr>PROBLEM STATEMENT</vt:lpstr>
      <vt:lpstr>OBJECTIVES</vt:lpstr>
      <vt:lpstr>LITERATURE  SURVEY</vt:lpstr>
      <vt:lpstr>PowerPoint Presentation</vt:lpstr>
      <vt:lpstr>PowerPoint Presentation</vt:lpstr>
      <vt:lpstr>PowerPoint Presentation</vt:lpstr>
      <vt:lpstr>PowerPoint Presentation</vt:lpstr>
      <vt:lpstr>METHODOLOGY</vt:lpstr>
      <vt:lpstr>WORK  FLOW  DIAGRAM </vt:lpstr>
      <vt:lpstr>SYSTEM ARCHITECTURE</vt:lpstr>
      <vt:lpstr>DATA SET &amp; TOOLS</vt:lpstr>
      <vt:lpstr>RESULTS</vt:lpstr>
      <vt:lpstr>References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veere</dc:creator>
  <cp:lastModifiedBy>logishetty vaishnavi</cp:lastModifiedBy>
  <cp:revision>35</cp:revision>
  <dcterms:created xsi:type="dcterms:W3CDTF">2025-04-28T05:30:56Z</dcterms:created>
  <dcterms:modified xsi:type="dcterms:W3CDTF">2025-05-02T10:30:37Z</dcterms:modified>
</cp:coreProperties>
</file>